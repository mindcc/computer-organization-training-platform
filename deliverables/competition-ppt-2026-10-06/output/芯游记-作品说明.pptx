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8683bf7bc24a60" /><Relationship Type="http://schemas.openxmlformats.org/officeDocument/2006/relationships/extended-properties" Target="/docProps/app.xml" Id="R07ad3809856143c7" /><Relationship Type="http://schemas.openxmlformats.org/officeDocument/2006/relationships/officeDocument" Target="/ppt/presentation.xml" Id="R7c54c822dd2247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cff017bc954c6d"/>
  </p:sldMasterIdLst>
  <p:notesMasterIdLst>
    <p:notesMasterId xmlns:r="http://schemas.openxmlformats.org/officeDocument/2006/relationships" r:id="R26ead4f81000461c"/>
  </p:notesMasterIdLst>
  <p:sldIdLst>
    <p:sldId xmlns:r="http://schemas.openxmlformats.org/officeDocument/2006/relationships" id="256" r:id="R28e573066e5048f5"/>
    <p:sldId xmlns:r="http://schemas.openxmlformats.org/officeDocument/2006/relationships" id="257" r:id="Re769214551ec432c"/>
    <p:sldId xmlns:r="http://schemas.openxmlformats.org/officeDocument/2006/relationships" id="258" r:id="Ra78d8232677241c8"/>
    <p:sldId xmlns:r="http://schemas.openxmlformats.org/officeDocument/2006/relationships" id="259" r:id="R169354467962472d"/>
    <p:sldId xmlns:r="http://schemas.openxmlformats.org/officeDocument/2006/relationships" id="260" r:id="R3a87f9a5560249d4"/>
    <p:sldId xmlns:r="http://schemas.openxmlformats.org/officeDocument/2006/relationships" id="261" r:id="R8d7c2349a4214e3d"/>
    <p:sldId xmlns:r="http://schemas.openxmlformats.org/officeDocument/2006/relationships" id="262" r:id="R2d99693ecaf14964"/>
    <p:sldId xmlns:r="http://schemas.openxmlformats.org/officeDocument/2006/relationships" id="263" r:id="Rfebbe83646744029"/>
    <p:sldId xmlns:r="http://schemas.openxmlformats.org/officeDocument/2006/relationships" id="264" r:id="R7736c34d98bf4553"/>
    <p:sldId xmlns:r="http://schemas.openxmlformats.org/officeDocument/2006/relationships" id="265" r:id="Ra1df8fabe1654855"/>
    <p:sldId xmlns:r="http://schemas.openxmlformats.org/officeDocument/2006/relationships" id="266" r:id="R618ab2ecc4654295"/>
    <p:sldId xmlns:r="http://schemas.openxmlformats.org/officeDocument/2006/relationships" id="267" r:id="R6eb67d4506c84278"/>
    <p:sldId xmlns:r="http://schemas.openxmlformats.org/officeDocument/2006/relationships" id="268" r:id="R87a0d8587ec54690"/>
    <p:sldId xmlns:r="http://schemas.openxmlformats.org/officeDocument/2006/relationships" id="269" r:id="R97b5a85b5b4c4776"/>
    <p:sldId xmlns:r="http://schemas.openxmlformats.org/officeDocument/2006/relationships" id="270" r:id="R0e508dc8959348c8"/>
    <p:sldId xmlns:r="http://schemas.openxmlformats.org/officeDocument/2006/relationships" id="271" r:id="Rdfbe699ebff8412f"/>
    <p:sldId xmlns:r="http://schemas.openxmlformats.org/officeDocument/2006/relationships" id="272" r:id="Rfe661b0fb542494a"/>
    <p:sldId xmlns:r="http://schemas.openxmlformats.org/officeDocument/2006/relationships" id="273" r:id="Rf9e3913a8cd94bc4"/>
    <p:sldId xmlns:r="http://schemas.openxmlformats.org/officeDocument/2006/relationships" id="274" r:id="Re3ade13aff0c4386"/>
    <p:sldId xmlns:r="http://schemas.openxmlformats.org/officeDocument/2006/relationships" id="275" r:id="R4cb8a742644d4d10"/>
    <p:sldId xmlns:r="http://schemas.openxmlformats.org/officeDocument/2006/relationships" id="276" r:id="Rc1fbc92b9131463d"/>
    <p:sldId xmlns:r="http://schemas.openxmlformats.org/officeDocument/2006/relationships" id="277" r:id="R06ff04e4a5924e56"/>
    <p:sldId xmlns:r="http://schemas.openxmlformats.org/officeDocument/2006/relationships" id="278" r:id="R2a4590f949fd48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6f51c20b9e47cf" /><Relationship Type="http://schemas.openxmlformats.org/officeDocument/2006/relationships/slideMaster" Target="/ppt/slideMasters/slideMaster1.xml" Id="R7ecff017bc954c6d" /><Relationship Type="http://schemas.openxmlformats.org/officeDocument/2006/relationships/notesMaster" Target="/ppt/notesMasters/notesMaster1.xml" Id="R26ead4f81000461c" /><Relationship Type="http://schemas.openxmlformats.org/officeDocument/2006/relationships/presProps" Target="/ppt/presProps.xml" Id="Rfef7ed921d1e4e25" /><Relationship Type="http://schemas.openxmlformats.org/officeDocument/2006/relationships/viewProps" Target="/ppt/viewProps.xml" Id="Rc5c7e93da0794873" /><Relationship Type="http://schemas.openxmlformats.org/officeDocument/2006/relationships/tableStyles" Target="/ppt/tableStyles.xml" Id="Rf44ce714b34b4c89" /><Relationship Type="http://schemas.openxmlformats.org/officeDocument/2006/relationships/slide" Target="/ppt/slides/slide1.xml" Id="R28e573066e5048f5" /><Relationship Type="http://schemas.openxmlformats.org/officeDocument/2006/relationships/slide" Target="/ppt/slides/slide2.xml" Id="Re769214551ec432c" /><Relationship Type="http://schemas.openxmlformats.org/officeDocument/2006/relationships/slide" Target="/ppt/slides/slide3.xml" Id="Ra78d8232677241c8" /><Relationship Type="http://schemas.openxmlformats.org/officeDocument/2006/relationships/slide" Target="/ppt/slides/slide4.xml" Id="R169354467962472d" /><Relationship Type="http://schemas.openxmlformats.org/officeDocument/2006/relationships/slide" Target="/ppt/slides/slide5.xml" Id="R3a87f9a5560249d4" /><Relationship Type="http://schemas.openxmlformats.org/officeDocument/2006/relationships/slide" Target="/ppt/slides/slide6.xml" Id="R8d7c2349a4214e3d" /><Relationship Type="http://schemas.openxmlformats.org/officeDocument/2006/relationships/slide" Target="/ppt/slides/slide7.xml" Id="R2d99693ecaf14964" /><Relationship Type="http://schemas.openxmlformats.org/officeDocument/2006/relationships/slide" Target="/ppt/slides/slide8.xml" Id="Rfebbe83646744029" /><Relationship Type="http://schemas.openxmlformats.org/officeDocument/2006/relationships/slide" Target="/ppt/slides/slide9.xml" Id="R7736c34d98bf4553" /><Relationship Type="http://schemas.openxmlformats.org/officeDocument/2006/relationships/slide" Target="/ppt/slides/slide10.xml" Id="Ra1df8fabe1654855" /><Relationship Type="http://schemas.openxmlformats.org/officeDocument/2006/relationships/slide" Target="/ppt/slides/slide11.xml" Id="R618ab2ecc4654295" /><Relationship Type="http://schemas.openxmlformats.org/officeDocument/2006/relationships/slide" Target="/ppt/slides/slide12.xml" Id="R6eb67d4506c84278" /><Relationship Type="http://schemas.openxmlformats.org/officeDocument/2006/relationships/slide" Target="/ppt/slides/slide13.xml" Id="R87a0d8587ec54690" /><Relationship Type="http://schemas.openxmlformats.org/officeDocument/2006/relationships/slide" Target="/ppt/slides/slide14.xml" Id="R97b5a85b5b4c4776" /><Relationship Type="http://schemas.openxmlformats.org/officeDocument/2006/relationships/slide" Target="/ppt/slides/slide15.xml" Id="R0e508dc8959348c8" /><Relationship Type="http://schemas.openxmlformats.org/officeDocument/2006/relationships/slide" Target="/ppt/slides/slide16.xml" Id="Rdfbe699ebff8412f" /><Relationship Type="http://schemas.openxmlformats.org/officeDocument/2006/relationships/slide" Target="/ppt/slides/slide17.xml" Id="Rfe661b0fb542494a" /><Relationship Type="http://schemas.openxmlformats.org/officeDocument/2006/relationships/slide" Target="/ppt/slides/slide18.xml" Id="Rf9e3913a8cd94bc4" /><Relationship Type="http://schemas.openxmlformats.org/officeDocument/2006/relationships/slide" Target="/ppt/slides/slide19.xml" Id="Re3ade13aff0c4386" /><Relationship Type="http://schemas.openxmlformats.org/officeDocument/2006/relationships/slide" Target="/ppt/slides/slide20.xml" Id="R4cb8a742644d4d10" /><Relationship Type="http://schemas.openxmlformats.org/officeDocument/2006/relationships/slide" Target="/ppt/slides/slide21.xml" Id="Rc1fbc92b9131463d" /><Relationship Type="http://schemas.openxmlformats.org/officeDocument/2006/relationships/slide" Target="/ppt/slides/slide22.xml" Id="R06ff04e4a5924e56" /><Relationship Type="http://schemas.openxmlformats.org/officeDocument/2006/relationships/slide" Target="/ppt/slides/slide23.xml" Id="R2a4590f949fd48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a010d75eee46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自定义 2206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3418E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220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efcf8c90724ff5" /><Relationship Type="http://schemas.openxmlformats.org/officeDocument/2006/relationships/notesMaster" Target="/ppt/notesMasters/notesMaster1.xml" Id="R8909078714ae4f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06b91c74ba4f99" /><Relationship Type="http://schemas.openxmlformats.org/officeDocument/2006/relationships/notesMaster" Target="/ppt/notesMasters/notesMaster1.xml" Id="R702ec0b833ec44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8a5d847d224f1c" /><Relationship Type="http://schemas.openxmlformats.org/officeDocument/2006/relationships/notesMaster" Target="/ppt/notesMasters/notesMaster1.xml" Id="Rce816cb60ce94c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47d08cb5ce4a7b" /><Relationship Type="http://schemas.openxmlformats.org/officeDocument/2006/relationships/notesMaster" Target="/ppt/notesMasters/notesMaster1.xml" Id="R0e3c4068d5a240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ad93c64c4e4023" /><Relationship Type="http://schemas.openxmlformats.org/officeDocument/2006/relationships/notesMaster" Target="/ppt/notesMasters/notesMaster1.xml" Id="R3aec647c5ad54e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ba8d8486b54cb8" /><Relationship Type="http://schemas.openxmlformats.org/officeDocument/2006/relationships/notesMaster" Target="/ppt/notesMasters/notesMaster1.xml" Id="Rf22e4e86419e44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5d43e2789a40a7" /><Relationship Type="http://schemas.openxmlformats.org/officeDocument/2006/relationships/notesMaster" Target="/ppt/notesMasters/notesMaster1.xml" Id="R7e3393c5f88743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eb88bf60a143fb" /><Relationship Type="http://schemas.openxmlformats.org/officeDocument/2006/relationships/notesMaster" Target="/ppt/notesMasters/notesMaster1.xml" Id="R4bcc296270f945d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4ab434aeec34c42" /><Relationship Type="http://schemas.openxmlformats.org/officeDocument/2006/relationships/notesMaster" Target="/ppt/notesMasters/notesMaster1.xml" Id="R4aa814208534416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54d95f2479941d6" /><Relationship Type="http://schemas.openxmlformats.org/officeDocument/2006/relationships/notesMaster" Target="/ppt/notesMasters/notesMaster1.xml" Id="Rfe2a449bfa2d4fe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f9a13d6244c4a8b" /><Relationship Type="http://schemas.openxmlformats.org/officeDocument/2006/relationships/notesMaster" Target="/ppt/notesMasters/notesMaster1.xml" Id="Rbbf785f8539e42e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58fe93ae7344915" /><Relationship Type="http://schemas.openxmlformats.org/officeDocument/2006/relationships/notesMaster" Target="/ppt/notesMasters/notesMaster1.xml" Id="R65f674597f17418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4d912368d40470f" /><Relationship Type="http://schemas.openxmlformats.org/officeDocument/2006/relationships/notesMaster" Target="/ppt/notesMasters/notesMaster1.xml" Id="R1f92249e6525469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f439dd945f849e6" /><Relationship Type="http://schemas.openxmlformats.org/officeDocument/2006/relationships/notesMaster" Target="/ppt/notesMasters/notesMaster1.xml" Id="Rcb6afeac222242f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d48dbd7ca9b4795" /><Relationship Type="http://schemas.openxmlformats.org/officeDocument/2006/relationships/notesMaster" Target="/ppt/notesMasters/notesMaster1.xml" Id="R76ffcf5bbff7416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d3d2ab27b574fe1" /><Relationship Type="http://schemas.openxmlformats.org/officeDocument/2006/relationships/notesMaster" Target="/ppt/notesMasters/notesMaster1.xml" Id="R4a6d960c81ce45b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bac7349602c4ebc" /><Relationship Type="http://schemas.openxmlformats.org/officeDocument/2006/relationships/notesMaster" Target="/ppt/notesMasters/notesMaster1.xml" Id="R4b16f6da3b244bd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01fcfa9359b400e" /><Relationship Type="http://schemas.openxmlformats.org/officeDocument/2006/relationships/notesMaster" Target="/ppt/notesMasters/notesMaster1.xml" Id="Re285ae969f894a2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f058080f3324f67" /><Relationship Type="http://schemas.openxmlformats.org/officeDocument/2006/relationships/notesMaster" Target="/ppt/notesMasters/notesMaster1.xml" Id="R4d4295dde01043a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a0893c8d00142e3" /><Relationship Type="http://schemas.openxmlformats.org/officeDocument/2006/relationships/notesMaster" Target="/ppt/notesMasters/notesMaster1.xml" Id="R10fb8d972d5d4b0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e72fb2c5c8e4ef8" /><Relationship Type="http://schemas.openxmlformats.org/officeDocument/2006/relationships/notesMaster" Target="/ppt/notesMasters/notesMaster1.xml" Id="Rafa8a5248749472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e71d73fa29c45b4" /><Relationship Type="http://schemas.openxmlformats.org/officeDocument/2006/relationships/notesMaster" Target="/ppt/notesMasters/notesMaster1.xml" Id="R745c49551bb6435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bf8b454d3474625" /><Relationship Type="http://schemas.openxmlformats.org/officeDocument/2006/relationships/notesMaster" Target="/ppt/notesMasters/notesMaster1.xml" Id="Rd38c56ee46544f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页  芯游记</a:t>
            </a:r>
            <a:endParaRPr/>
          </a:p>
          <a:p xmlns:a="http://schemas.openxmlformats.org/drawingml/2006/main">
            <a:r>
              <a:t>建议 15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各位评委老师好。我们展示的作品是芯游记，一款面向计算机组成原理的教学智能体平台。它把学生的实际操作转化为可核对的学习证据，再由教师决定下一步教学行动。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演示提示：停留封面，不显示姓名、学校或团队身份。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资料来源：prototype/src/components；prototype/docs/general-learning-diagnosis-2026-10-06.md</a:t>
            </a:r>
            <a:endParaRPr/>
          </a:p>
          <a:p xmlns:a="http://schemas.openxmlformats.org/drawingml/2006/main">
            <a:r>
              <a:t>说明：2026-10-06 工作树实现口径。工程验收与真实教学效果分开。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 页  目录</a:t>
            </a:r>
          </a:p>
          <a:p xmlns:a="http://schemas.openxmlformats.org/drawingml/2006/main">
            <a:r>
              <a:t>建议 8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下面按照模板的八个部分，介绍作品背景、功能与技术，重点展示师生机怎样协同，以及目前已经验证和仍待验证的内容。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演示提示：按目录快速过渡。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资料来源：模板章节结构</a:t>
            </a:r>
          </a:p>
          <a:p xmlns:a="http://schemas.openxmlformats.org/drawingml/2006/main">
            <a:r>
              <a:t>说明：2026-10-06 工作树实现口径。工程验收与真实教学效果分开。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 页  作品背景</a:t>
            </a:r>
          </a:p>
          <a:p xmlns:a="http://schemas.openxmlformats.org/drawingml/2006/main">
            <a:r>
              <a:t>建议 3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首先，说明我们希望解决的教学问题。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演示提示：章节页快速过渡。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资料来源：模板章节结构</a:t>
            </a:r>
          </a:p>
          <a:p xmlns:a="http://schemas.openxmlformats.org/drawingml/2006/main">
            <a:r>
              <a:t>说明：2026-10-06 工作树实现口径。工程验收与真实教学效果分开。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 页  从实验错误到教学行动</a:t>
            </a:r>
          </a:p>
          <a:p xmlns:a="http://schemas.openxmlformats.org/drawingml/2006/main">
            <a:r>
              <a:t>建议 30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组成原理实验中，学生需要把抽象的信号和数据通路变成实际操作。一次失败可能来自连线、端口或信号传播，也可能来自概念理解。只给对错，学生很难决定下一步；只给汇总报告，教师仍要重新寻找依据。因此，我们把实际输入、输出和任务过程保留下来，让诊断、补学与复测能够连续发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演示提示：依次指向学生、教师两侧的需求；这些是设计问题，不是已测量的课堂结论。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资料来源：docs/competition-qizhen-2026.md；prototype/server/learningCoach.js</a:t>
            </a:r>
          </a:p>
          <a:p xmlns:a="http://schemas.openxmlformats.org/drawingml/2006/main">
            <a:r>
              <a:t>说明：2026-10-06 工作树实现口径。工程验收与真实教学效果分开。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 页  作品阐述</a:t>
            </a:r>
          </a:p>
          <a:p xmlns:a="http://schemas.openxmlformats.org/drawingml/2006/main">
            <a:r>
              <a:t>建议 3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接下来，介绍系统如何进入教学流程。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演示提示：章节页快速过渡。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资料来源：模板章节结构</a:t>
            </a:r>
          </a:p>
          <a:p xmlns:a="http://schemas.openxmlformats.org/drawingml/2006/main">
            <a:r>
              <a:t>说明：2026-10-06 工作树实现口径。工程验收与真实教学效果分开。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6 页  贯穿一次教学活动</a:t>
            </a:r>
          </a:p>
          <a:p xmlns:a="http://schemas.openxmlformats.org/drawingml/2006/main">
            <a:r>
              <a:t>建议 24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系统围绕课前、课中、课后和下一次教学组织任务。课前教师设定目标和任务，课中学生操作、系统检测，教师根据证据调整节奏。课后汇总学习记录，学生完成补学与复测，教师再审核下一次课堂建议。每个阶段都有实际入口和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演示提示：沿四个箭头介绍流程。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资料来源：prototype/server/classroomSessionService.js；docs/competition-qizhen-2026.md</a:t>
            </a:r>
          </a:p>
          <a:p xmlns:a="http://schemas.openxmlformats.org/drawingml/2006/main">
            <a:r>
              <a:t>说明：2026-10-06 工作树实现口径。工程验收与真实教学效果分开。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7 页  师生机协同的五个动作</a:t>
            </a:r>
          </a:p>
          <a:p xmlns:a="http://schemas.openxmlformats.org/drawingml/2006/main">
            <a:r>
              <a:t>建议 26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的协同体现在五个动作：教师确定目标，学生提交实际操作，机器返回检测事实和建议，教师选择干预对象并发布任务，学生修正后再次验证。教师保留教学决策权，学生必须亲自完成学习活动。生成模型负责解释与建议，成绩由服务端检测器复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演示提示：顺着五个节点讲解，并强调教师审核。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资料来源：prototype/server/learningCoach.js；prototype/server/teacherAssistant.js；prototype/server/classroomSessionService.js</a:t>
            </a:r>
          </a:p>
          <a:p xmlns:a="http://schemas.openxmlformats.org/drawingml/2006/main">
            <a:r>
              <a:t>说明：2026-10-06 工作树实现口径。工程验收与真实教学效果分开。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8 页  把协同落实为操作与边界</a:t>
            </a:r>
          </a:p>
          <a:p xmlns:a="http://schemas.openxmlformats.org/drawingml/2006/main">
            <a:r>
              <a:t>建议 18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为使协同能够落地，我们补齐了四项连接：错误有实际反例，提示可以分级展开，教师建议能转成可编辑任务，发布后能回看过程。只有班级概览、缺少诊断证据时，系统会提示继续采集，不直接推断具体概念错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演示提示：按四个圆形阅读，不逐字读标题。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资料来源：prototype/docs/assistant-evidence-improvements-2026-10-06.md；prototype/docs/general-learning-diagnosis-2026-10-06.md</a:t>
            </a:r>
          </a:p>
          <a:p xmlns:a="http://schemas.openxmlformats.org/drawingml/2006/main">
            <a:r>
              <a:t>说明：2026-10-06 工作树实现口径。工程验收与真实教学效果分开。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9 页  作品功能设计</a:t>
            </a:r>
          </a:p>
          <a:p xmlns:a="http://schemas.openxmlformats.org/drawingml/2006/main">
            <a:r>
              <a:t>建议 3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下面用实际界面说明这些操作。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演示提示：章节页快速过渡。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资料来源：模板章节结构</a:t>
            </a:r>
          </a:p>
          <a:p xmlns:a="http://schemas.openxmlformats.org/drawingml/2006/main">
            <a:r>
              <a:t>说明：2026-10-06 工作树实现口径。工程验收与真实教学效果分开。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10 页  任务地图与实际操作</a:t>
            </a:r>
          </a:p>
          <a:p xmlns:a="http://schemas.openxmlformats.org/drawingml/2006/main">
            <a:r>
              <a:t>建议 26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端提供章节任务、实验工作台和学习复盘，教师端提供任务编排、课堂控制与学情回看。屏幕中是实际实验界面，学生连接端口、观察数据流、提交检测。通用深度诊断已接入二十九个实际电路工作台；三维概览没有学生连线输入，因此不计入这个诊断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演示提示：指向右侧电路工作台；界面来自隔离验收场景。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资料来源：prototype/qa-artifacts/classroom-student-workbench.png；prototype/docs/general-learning-diagnosis-2026-10-06.md</a:t>
            </a:r>
          </a:p>
          <a:p xmlns:a="http://schemas.openxmlformats.org/drawingml/2006/main">
            <a:r>
              <a:t>说明：2026-10-06 工作树实现口径。工程验收与真实教学效果分开。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11 页  学生诊断 修改与复测</a:t>
            </a:r>
          </a:p>
          <a:p xmlns:a="http://schemas.openxmlformats.org/drawingml/2006/main">
            <a:r>
              <a:t>建议 40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全加器为例，服务端检查八组输入，并把实际求和、进位与预期结果对照。系统保留首次失败，学生可以先看概念提醒，再看定位和操作建议。修改后必须重新检测，复测结果独立保存。全加器还包含多位加法迁移题。其他实验目前主要进行同一规格的输出预测；小输入域和重复输入会明确提示，不能把一次通过解释为已经掌握整章或证明广泛迁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演示提示：指向检测事实、分级提示和移动端复测记录；所有截图均为测试账号。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资料来源：prototype/qa-artifacts/learning-coach-desktop.png；prototype/qa-artifacts/general-coach-mobile.png；prototype/docs/general-learning-diagnosis-2026-10-06.md</a:t>
            </a:r>
          </a:p>
          <a:p xmlns:a="http://schemas.openxmlformats.org/drawingml/2006/main">
            <a:r>
              <a:t>说明：2026-10-06 工作树实现口径。工程验收与真实教学效果分开。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12 页  教师从建议到课堂任务</a:t>
            </a:r>
          </a:p>
          <a:p xmlns:a="http://schemas.openxmlformats.org/drawingml/2006/main">
            <a:r>
              <a:t>建议 42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看到的下一次课堂安排，每条都附有来源证据。教师可以采纳为草稿，修改教学重点、步骤、讲解与任务节点，再保存和发布。右侧实际界面保留了原报告、两次教师修改以及发布版本。原报告由服务端保存，学生只能获得已发布任务。证据编号合法只是基本校验，建议是否被证据支持，仍需教师判断。这使机器建议和教师决策都能够回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演示提示：左侧讲操作链路，右侧指向逐条依据、保存版本和发布记录。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资料来源：prototype/qa-artifacts/assistant-decision-panel-mobile.png；prototype/docs/assistant-evidence-improvements-2026-10-06.md；prototype/server/teacherAssistant.js</a:t>
            </a:r>
          </a:p>
          <a:p xmlns:a="http://schemas.openxmlformats.org/drawingml/2006/main">
            <a:r>
              <a:t>说明：2026-10-06 工作树实现口径。工程验收与真实教学效果分开。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13 页  技术实现方案</a:t>
            </a:r>
          </a:p>
          <a:p xmlns:a="http://schemas.openxmlformats.org/drawingml/2006/main">
            <a:r>
              <a:t>建议 3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这些流程由确定性检测与生成建议共同支撑。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演示提示：章节页快速过渡。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资料来源：模板章节结构</a:t>
            </a:r>
          </a:p>
          <a:p xmlns:a="http://schemas.openxmlformats.org/drawingml/2006/main">
            <a:r>
              <a:t>说明：2026-10-06 工作树实现口径。工程验收与真实教学效果分开。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14 页  确定性检测与受限生成</a:t>
            </a:r>
          </a:p>
          <a:p xmlns:a="http://schemas.openxmlformats.org/drawingml/2006/main">
            <a:r>
              <a:t>建议 34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前端使用 React、Vite、React Flow 和 Three.js，服务端使用 Node、Express 与 SQLite。实验适配器负责检测、分级提示和复测判分；生成模型只在用户明确选择后获得当前受限诊断与课程依据，输出经过结构校验和引用检查。模型不可用时返回本地规则流程。课程依据目前来自有限来源目录和教师审核段落，全课程向量检索仍在后续计划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演示提示：按交互层、证据层、生成层、记录层解释；不要把箭头说成模型自动发布。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资料来源：prototype/package.json；prototype/server/learningCoach.js；prototype/server/teacherAssistant.js；prototype/docs/general-learning-diagnosis-2026-10-06.md</a:t>
            </a:r>
          </a:p>
          <a:p xmlns:a="http://schemas.openxmlformats.org/drawingml/2006/main">
            <a:r>
              <a:t>说明：2026-10-06 工作树实现口径。工程验收与真实教学效果分开。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15 页  运行效果</a:t>
            </a:r>
          </a:p>
          <a:p xmlns:a="http://schemas.openxmlformats.org/drawingml/2006/main">
            <a:r>
              <a:t>建议 3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下面说明目前的验证证据。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演示提示：章节页快速过渡。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资料来源：模板章节结构</a:t>
            </a:r>
          </a:p>
          <a:p xmlns:a="http://schemas.openxmlformats.org/drawingml/2006/main">
            <a:r>
              <a:t>说明：2026-10-06 工作树实现口径。工程验收与真实教学效果分开。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16 页  当前工程验证结果</a:t>
            </a:r>
          </a:p>
          <a:p xmlns:a="http://schemas.openxmlformats.org/drawingml/2006/main">
            <a:r>
              <a:t>建议 30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六百六十四项自动化测试通过，生产构建和首屏体积门禁通过。专项浏览器验收覆盖师生流程、跨实验记录和三百九十像素布局。隔离的本机课堂压测中，一百五十次提交全部成功，没有数据库忙错误。这里证明的是工程可运行性；旧通用界面回归仍有定位器问题，真实课堂学习增益、教师工时和长期保持效果尚未采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演示提示：强调三类验收及最下方的效果边界，不把本机压测当部署容量。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资料来源：prototype/docs/general-learning-diagnosis-2026-10-06.md；prototype/docs/assistant-evidence-improvements-2026-10-06.md</a:t>
            </a:r>
          </a:p>
          <a:p xmlns:a="http://schemas.openxmlformats.org/drawingml/2006/main">
            <a:r>
              <a:t>说明：2026-10-06 工作树实现口径。工程验收与真实教学效果分开。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17 页  应用价值</a:t>
            </a:r>
          </a:p>
          <a:p xmlns:a="http://schemas.openxmlformats.org/drawingml/2006/main">
            <a:r>
              <a:t>建议 3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接下来说明教学应用与推广方式。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演示提示：章节页快速过渡。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资料来源：模板章节结构</a:t>
            </a:r>
          </a:p>
          <a:p xmlns:a="http://schemas.openxmlformats.org/drawingml/2006/main">
            <a:r>
              <a:t>说明：2026-10-06 工作树实现口径。工程验收与真实教学效果分开。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18 页  在课程中如何使用与推广</a:t>
            </a:r>
          </a:p>
          <a:p xmlns:a="http://schemas.openxmlformats.org/drawingml/2006/main">
            <a:r>
              <a:t>建议 23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系统适合嵌入一次实验课：教师布置任务，学生操作，系统记录证据，教师组织讲解或定向补练，课后回看。移动端能够查看建议与学习记录，复杂连线仍建议在电脑上完成。推广可以先复用当前电路课程与任务模板；扩展到硬件经营、指令执行或其他学科，需要新增对应的证据规范和检测适配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演示提示：沿五个节点介绍场景、教师、学生、移动访问和推广。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资料来源：prototype/docs/general-learning-diagnosis-2026-10-06.md；prototype/AGENTS.md</a:t>
            </a:r>
          </a:p>
          <a:p xmlns:a="http://schemas.openxmlformats.org/drawingml/2006/main">
            <a:r>
              <a:t>说明：2026-10-06 工作树实现口径。工程验收与真实教学效果分开。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19 页  创新点</a:t>
            </a:r>
          </a:p>
          <a:p xmlns:a="http://schemas.openxmlformats.org/drawingml/2006/main">
            <a:r>
              <a:t>建议 3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作品的创新集中在证据和行动之间的连接。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演示提示：章节页快速过渡。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资料来源：模板章节结构</a:t>
            </a:r>
          </a:p>
          <a:p xmlns:a="http://schemas.openxmlformats.org/drawingml/2006/main">
            <a:r>
              <a:t>说明：2026-10-06 工作树实现口径。工程验收与真实教学效果分开。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20 页  可核对的诊断 可审核的行动</a:t>
            </a:r>
          </a:p>
          <a:p xmlns:a="http://schemas.openxmlformats.org/drawingml/2006/main">
            <a:r>
              <a:t>建议 26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，将实际操作交给检测器，把解释与建议交给生成模型。第二，把提示、修改验证和复测连成学生的学习路径。第三，保留教师采纳、改写和发布过程，使下一次课堂安排可追溯。第四，以实验适配器复用同一套师生协同流程。这些是当前系统的实现特点，是否优于普通问答，需要独立教师评测和真实试教进一步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演示提示：按四栏说明实现特点，避免宣称首创。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资料来源：prototype/docs/general-learning-diagnosis-2026-10-06.md；prototype/docs/assistant-evidence-improvements-2026-10-06.md</a:t>
            </a:r>
          </a:p>
          <a:p xmlns:a="http://schemas.openxmlformats.org/drawingml/2006/main">
            <a:r>
              <a:t>说明：2026-10-06 工作树实现口径。工程验收与真实教学效果分开。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21 页  进一步完善计划</a:t>
            </a:r>
          </a:p>
          <a:p xmlns:a="http://schemas.openxmlformats.org/drawingml/2006/main">
            <a:r>
              <a:t>建议 3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最后说明下一步怎样补齐教学证据。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演示提示：章节页快速过渡。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资料来源：模板章节结构</a:t>
            </a:r>
          </a:p>
          <a:p xmlns:a="http://schemas.openxmlformats.org/drawingml/2006/main">
            <a:r>
              <a:t>说明：2026-10-06 工作树实现口径。工程验收与真实教学效果分开。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22 页  试教与独立评测计划</a:t>
            </a:r>
          </a:p>
          <a:p xmlns:a="http://schemas.openxmlformats.org/drawingml/2006/main">
            <a:r>
              <a:t>建议 32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一步优先在一个班级开展两次教学活动，采集不同题目的前后测、延迟复测、教师工时和学生反馈，再整理三十到五十个独立教师审核案例，比较普通问答、工具助教和本地规则。随后完善课程来源与题目质量，增加跨领域适配器，并修复旧界面回归。系统已具备试教基础，教学效果仍需要真实课堂数据来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演示提示：三个阶段逐次展开口述；这里均是计划，现有采集表尚无真实数据。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资料来源：prototype/docs/competition-validation-kit/README.md；prototype/docs/competition-reevaluation-2026-10-06.md</a:t>
            </a:r>
          </a:p>
          <a:p xmlns:a="http://schemas.openxmlformats.org/drawingml/2006/main">
            <a:r>
              <a:t>说明：2026-10-06 工作树实现口径。工程验收与真实教学效果分开。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23 页  谢谢观看</a:t>
            </a:r>
          </a:p>
          <a:p xmlns:a="http://schemas.openxmlformats.org/drawingml/2006/main">
            <a:r>
              <a:t>建议 12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以上是芯游记的作品说明。我们希望让学生的操作留下证据，让机器的建议可核对，让教师的决策能够形成下一次学习行动。感谢各位评委老师。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演示提示：停留结束页。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资料来源：模板章节结构</a:t>
            </a:r>
          </a:p>
          <a:p xmlns:a="http://schemas.openxmlformats.org/drawingml/2006/main">
            <a:r>
              <a:t>说明：2026-10-06 工作树实现口径。工程验收与真实教学效果分开。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7a613e551e4396" /><Relationship Type="http://schemas.openxmlformats.org/officeDocument/2006/relationships/image" Target="/ppt/media/image2.jpeg" Id="R4c0ef75463eb49b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20fe05b380475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ae1f084005411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e3e738eb3e4a4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ff1ffabc064d4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d5dcbd1cd54fb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a64f515ae947b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dd872fc77e42e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ccf444cc7d4f9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5aedac1265487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142668e3804c6d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4ffd180e0f4984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0ef75463eb49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88692" y="161199"/>
            <a:ext cx="1511208" cy="67186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8F6F77A-C4D0-4746-8923-C8EE497E5A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6FB44F0B-75B7-44A7-A253-F1C10926DE5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3A44B87-3576-45C1-93F0-957C90C9207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F12072A-820E-449A-BBCD-0DA17A58AE7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9A9E22C-56B6-4FD7-B28A-34A9C0CEF8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6CF2024-DAB6-437D-B586-9F4CD1E8DC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81A72DE-93AE-4572-A492-886AEE5E09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1845991-C556-418D-A869-B1BDD1F95D5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43DD626-F532-443F-A46F-FC0F76C16D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A87C4F3-4F21-451A-8600-6D4996EAD0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6A90417-B681-4F0B-9A4E-DFA12DCEC0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4A123021-F647-4142-9279-FB0C98EA857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DA1C48B1-D65C-4F92-BDB4-E16D5B147CD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6016092-2EF5-4FAD-951A-7B97F72C4E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16A516F-040A-4D24-9AD9-09E0216801C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E9A3F608-9AA0-44F1-8059-E0660A53E4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E6BEE57-8C52-4723-A41A-A239CBB725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C5A7628-FF05-4957-BDCA-6C06070A89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AD04FE11-20A2-463E-B095-4891077D267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DC1B74E7-A264-4EAB-8BFE-67833739B0C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8A13791B-C4CB-44DB-8502-048494AC6D1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4CAA1488-CACA-41EB-9AA4-437228911F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4D401D29-BB5E-472B-9B8E-E349AE6DF6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CA38C41-C1FE-475E-89E6-23E0FF2709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BBD19D4-E073-4844-B465-08D6814227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35DF4727-4A54-4C22-BB0F-3B474163ED3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42EF7C79-60C8-4725-984D-922793C0B4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A95CA930-8A7F-4717-8817-D5625250EA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5E24CAA9-1B46-4AF2-91A3-B2F77EC0DF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05E35282-0CE9-42A8-8032-3E50D50DCE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17FDB8D5-A591-4B75-8F3B-7957995B14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51F3278-405B-4813-B9F7-E0CE4F8E8A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3E2DA82-DD61-4E8F-B98F-4323E348D28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F2F048EB-0D73-4651-973C-71F81FD2B8C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EC1E239D-E3AE-4D2A-BA3C-4300EBF7B3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62133C3-EC82-4F0D-A0FE-E14A03FC77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98C71EA-31E6-4E89-8097-E1E2288859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39A4B64-8E04-44F1-B3DB-6A269A9AFF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6835A6EB-47F0-48E9-ACE9-3425260ADA9F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5B685070-2BDB-40E2-9B38-3DDC4B9D261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22E33AE0-93A1-411D-A939-2DAB9AD6D03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D185841-2012-40E8-B942-5C1AED31FCA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A6D10690-739B-40B3-9585-F78B624D1F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49BE31F-1544-4E3D-AF08-3AC10CF686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8B575930-5AAA-412F-BB23-592719D128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7AC6EB0-1718-4918-A8B6-6120D78DDED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F4016C6-A00D-406A-B054-FD59357975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4CDBAE0-7EF2-4E21-BFB2-77185B03AE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E4C81728-DE26-4775-B1CF-CC225FA9DC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B16CF930-C571-4916-A770-ECB8558375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4CB1E53-CBDF-473F-AB42-D2B2865ECF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BE69E94-7F5D-4522-9CE4-5E091749263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CF9C5F4-5FA4-4D61-A982-222CB77854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357C45E-7689-42CF-A6B3-9BE325CAA6C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59AFE1B7-FF0E-4B01-B54D-B3244F1B81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92C2CDD-277D-4668-9C9D-E52D40C4BE0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3A95A00-C8C4-4524-82FF-37D1F04FE4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C0F2C0E-8E4A-40F2-BFB7-1317826E25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jpeg" Id="R5488b9f2c41140b6" /><Relationship Type="http://schemas.openxmlformats.org/officeDocument/2006/relationships/theme" Target="/ppt/slideMasters/theme/theme2.xml" Id="Rabf379e1c77f4474" /><Relationship Type="http://schemas.openxmlformats.org/officeDocument/2006/relationships/slideLayout" Target="/ppt/slideLayouts/slideLayout1.xml" Id="Rb1fb8d8f0b7b48fd" /><Relationship Type="http://schemas.openxmlformats.org/officeDocument/2006/relationships/slideLayout" Target="/ppt/slideLayouts/slideLayout2.xml" Id="Rd23c902ca0884c59" /><Relationship Type="http://schemas.openxmlformats.org/officeDocument/2006/relationships/slideLayout" Target="/ppt/slideLayouts/slideLayout3.xml" Id="Rc9f37cb477c64b05" /><Relationship Type="http://schemas.openxmlformats.org/officeDocument/2006/relationships/slideLayout" Target="/ppt/slideLayouts/slideLayout4.xml" Id="Rf29c7b9d2e5c4e7d" /><Relationship Type="http://schemas.openxmlformats.org/officeDocument/2006/relationships/slideLayout" Target="/ppt/slideLayouts/slideLayout5.xml" Id="R98e099e25def4062" /><Relationship Type="http://schemas.openxmlformats.org/officeDocument/2006/relationships/slideLayout" Target="/ppt/slideLayouts/slideLayout6.xml" Id="Rc714ca5540aa465d" /><Relationship Type="http://schemas.openxmlformats.org/officeDocument/2006/relationships/slideLayout" Target="/ppt/slideLayouts/slideLayout7.xml" Id="R96078f4652e74abd" /><Relationship Type="http://schemas.openxmlformats.org/officeDocument/2006/relationships/slideLayout" Target="/ppt/slideLayouts/slideLayout8.xml" Id="Rb90fdd681f3a4386" /><Relationship Type="http://schemas.openxmlformats.org/officeDocument/2006/relationships/slideLayout" Target="/ppt/slideLayouts/slideLayout9.xml" Id="Rb70e6c50df664fd5" /><Relationship Type="http://schemas.openxmlformats.org/officeDocument/2006/relationships/slideLayout" Target="/ppt/slideLayouts/slideLayout10.xml" Id="R9c4d0e039818480f" /><Relationship Type="http://schemas.openxmlformats.org/officeDocument/2006/relationships/slideLayout" Target="/ppt/slideLayouts/slideLayout11.xml" Id="Rfe87b40b702d49de" /><Relationship Type="http://schemas.openxmlformats.org/officeDocument/2006/relationships/slideLayout" Target="/ppt/slideLayouts/slideLayout12.xml" Id="R5c6c29c1241a489d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488b9f2c41140b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fb8d8f0b7b48fd"/>
    <p:sldLayoutId xmlns:r="http://schemas.openxmlformats.org/officeDocument/2006/relationships" id="2147483650" r:id="Rd23c902ca0884c59"/>
    <p:sldLayoutId xmlns:r="http://schemas.openxmlformats.org/officeDocument/2006/relationships" id="2147483651" r:id="Rc9f37cb477c64b05"/>
    <p:sldLayoutId xmlns:r="http://schemas.openxmlformats.org/officeDocument/2006/relationships" id="2147483652" r:id="Rf29c7b9d2e5c4e7d"/>
    <p:sldLayoutId xmlns:r="http://schemas.openxmlformats.org/officeDocument/2006/relationships" id="2147483653" r:id="R98e099e25def4062"/>
    <p:sldLayoutId xmlns:r="http://schemas.openxmlformats.org/officeDocument/2006/relationships" id="2147483654" r:id="Rc714ca5540aa465d"/>
    <p:sldLayoutId xmlns:r="http://schemas.openxmlformats.org/officeDocument/2006/relationships" id="2147483655" r:id="R96078f4652e74abd"/>
    <p:sldLayoutId xmlns:r="http://schemas.openxmlformats.org/officeDocument/2006/relationships" id="2147483656" r:id="Rb90fdd681f3a4386"/>
    <p:sldLayoutId xmlns:r="http://schemas.openxmlformats.org/officeDocument/2006/relationships" id="2147483657" r:id="Rb70e6c50df664fd5"/>
    <p:sldLayoutId xmlns:r="http://schemas.openxmlformats.org/officeDocument/2006/relationships" id="2147483658" r:id="R9c4d0e039818480f"/>
    <p:sldLayoutId xmlns:r="http://schemas.openxmlformats.org/officeDocument/2006/relationships" id="2147483659" r:id="Rfe87b40b702d49de"/>
    <p:sldLayoutId xmlns:r="http://schemas.openxmlformats.org/officeDocument/2006/relationships" id="2147483660" r:id="R5c6c29c1241a489d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自定义 2206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3418E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220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834418e73b4dd5" /><Relationship Type="http://schemas.openxmlformats.org/officeDocument/2006/relationships/image" Target="/ppt/media/image.png" Id="R5a60440998b94748" /><Relationship Type="http://schemas.openxmlformats.org/officeDocument/2006/relationships/notesSlide" Target="/ppt/notesSlides/notesSlide1.xml" Id="R91cda6b24e294e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8698a4aac874857" /><Relationship Type="http://schemas.openxmlformats.org/officeDocument/2006/relationships/image" Target="/ppt/media/image3.jpeg" Id="R870d3be1274d4842" /><Relationship Type="http://schemas.openxmlformats.org/officeDocument/2006/relationships/notesSlide" Target="/ppt/notesSlides/notesSlide2.xml" Id="Rc632072f72f244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5b413cf0efb489d" /><Relationship Type="http://schemas.openxmlformats.org/officeDocument/2006/relationships/image" Target="/ppt/media/image3.jpeg" Id="R739077ac687b4972" /><Relationship Type="http://schemas.openxmlformats.org/officeDocument/2006/relationships/notesSlide" Target="/ppt/notesSlides/notesSlide3.xml" Id="Rd99382b8e0b244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cbe05e756004598" /><Relationship Type="http://schemas.openxmlformats.org/officeDocument/2006/relationships/notesSlide" Target="/ppt/notesSlides/notesSlide4.xml" Id="R1124b1d16e614f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c4b2d3baabc4208" /><Relationship Type="http://schemas.openxmlformats.org/officeDocument/2006/relationships/image" Target="/ppt/media/image3.jpeg" Id="Re75956948bc043db" /><Relationship Type="http://schemas.openxmlformats.org/officeDocument/2006/relationships/notesSlide" Target="/ppt/notesSlides/notesSlide5.xml" Id="R4f7176d237a042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14db44ec779400a" /><Relationship Type="http://schemas.openxmlformats.org/officeDocument/2006/relationships/notesSlide" Target="/ppt/notesSlides/notesSlide6.xml" Id="R984c25f3b98440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9dc2dc4544448a4" /><Relationship Type="http://schemas.openxmlformats.org/officeDocument/2006/relationships/notesSlide" Target="/ppt/notesSlides/notesSlide7.xml" Id="R57723c185daf4f4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ae7cb06457241ab" /><Relationship Type="http://schemas.openxmlformats.org/officeDocument/2006/relationships/notesSlide" Target="/ppt/notesSlides/notesSlide8.xml" Id="R66a7f11c55e648a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cc200c2e15d4a16" /><Relationship Type="http://schemas.openxmlformats.org/officeDocument/2006/relationships/image" Target="/ppt/media/image3.jpeg" Id="R8e28fb4625f8496e" /><Relationship Type="http://schemas.openxmlformats.org/officeDocument/2006/relationships/notesSlide" Target="/ppt/notesSlides/notesSlide9.xml" Id="R8f7bf559ce084cd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d98f76ab1714e79" /><Relationship Type="http://schemas.openxmlformats.org/officeDocument/2006/relationships/image" Target="/ppt/media/image2.png" Id="R06a0847af7554932" /><Relationship Type="http://schemas.openxmlformats.org/officeDocument/2006/relationships/notesSlide" Target="/ppt/notesSlides/notesSlide10.xml" Id="R48aa8866ef44430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36f30242d58428e" /><Relationship Type="http://schemas.openxmlformats.org/officeDocument/2006/relationships/image" Target="/ppt/media/image3.png" Id="Rbb2db359a7ef41dd" /><Relationship Type="http://schemas.openxmlformats.org/officeDocument/2006/relationships/image" Target="/ppt/media/image4.png" Id="R9eea72e608f74c05" /><Relationship Type="http://schemas.openxmlformats.org/officeDocument/2006/relationships/notesSlide" Target="/ppt/notesSlides/notesSlide11.xml" Id="R4f3fea4024ca460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460af8af3b64d88" /><Relationship Type="http://schemas.openxmlformats.org/officeDocument/2006/relationships/image" Target="/ppt/media/image5.png" Id="Rec2bc89a168c4fc4" /><Relationship Type="http://schemas.openxmlformats.org/officeDocument/2006/relationships/image" Target="/ppt/media/image6.png" Id="R0bbf4e201f0d41e4" /><Relationship Type="http://schemas.openxmlformats.org/officeDocument/2006/relationships/notesSlide" Target="/ppt/notesSlides/notesSlide12.xml" Id="R53fea2f70757478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9ca910005e24c46" /><Relationship Type="http://schemas.openxmlformats.org/officeDocument/2006/relationships/image" Target="/ppt/media/image3.jpeg" Id="Rbab7993d7e7a421e" /><Relationship Type="http://schemas.openxmlformats.org/officeDocument/2006/relationships/notesSlide" Target="/ppt/notesSlides/notesSlide13.xml" Id="R19e96416a23746d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6f3f6fb8e8b4ed6" /><Relationship Type="http://schemas.openxmlformats.org/officeDocument/2006/relationships/notesSlide" Target="/ppt/notesSlides/notesSlide14.xml" Id="R3a4611fe795d48c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4cc3339a42d4b19" /><Relationship Type="http://schemas.openxmlformats.org/officeDocument/2006/relationships/image" Target="/ppt/media/image3.jpeg" Id="R56affb6b2ae74d56" /><Relationship Type="http://schemas.openxmlformats.org/officeDocument/2006/relationships/notesSlide" Target="/ppt/notesSlides/notesSlide15.xml" Id="R68f439b489e144d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525dbf20d614a59" /><Relationship Type="http://schemas.openxmlformats.org/officeDocument/2006/relationships/notesSlide" Target="/ppt/notesSlides/notesSlide16.xml" Id="R2c12d902ab2d49a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b005c8569ed4f6c" /><Relationship Type="http://schemas.openxmlformats.org/officeDocument/2006/relationships/image" Target="/ppt/media/image3.jpeg" Id="R7593831885db49f1" /><Relationship Type="http://schemas.openxmlformats.org/officeDocument/2006/relationships/notesSlide" Target="/ppt/notesSlides/notesSlide17.xml" Id="R0a2ef1e87d7b443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61ea480e09d4402" /><Relationship Type="http://schemas.openxmlformats.org/officeDocument/2006/relationships/notesSlide" Target="/ppt/notesSlides/notesSlide18.xml" Id="R9ca1e1f4ed114fa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c2d25a009dd4ea9" /><Relationship Type="http://schemas.openxmlformats.org/officeDocument/2006/relationships/image" Target="/ppt/media/image3.jpeg" Id="R35ab170118b04638" /><Relationship Type="http://schemas.openxmlformats.org/officeDocument/2006/relationships/notesSlide" Target="/ppt/notesSlides/notesSlide19.xml" Id="R4b602f3ecb154ce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f912fdee1854637" /><Relationship Type="http://schemas.openxmlformats.org/officeDocument/2006/relationships/notesSlide" Target="/ppt/notesSlides/notesSlide20.xml" Id="R9b442a8d3a4b408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a7e9cf5cee848ab" /><Relationship Type="http://schemas.openxmlformats.org/officeDocument/2006/relationships/image" Target="/ppt/media/image3.jpeg" Id="R4feea6f109834b48" /><Relationship Type="http://schemas.openxmlformats.org/officeDocument/2006/relationships/notesSlide" Target="/ppt/notesSlides/notesSlide21.xml" Id="R72aef8fc3342422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eb35a20723748e4" /><Relationship Type="http://schemas.openxmlformats.org/officeDocument/2006/relationships/notesSlide" Target="/ppt/notesSlides/notesSlide22.xml" Id="R85a2c20eac184f4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87cd4b061f44d4" /><Relationship Type="http://schemas.openxmlformats.org/officeDocument/2006/relationships/image" Target="/ppt/media/image.png" Id="R61505b406f1f45af" /><Relationship Type="http://schemas.openxmlformats.org/officeDocument/2006/relationships/notesSlide" Target="/ppt/notesSlides/notesSlide23.xml" Id="R0c41ef8f4f12478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任意形状 5">
            <a:extLst xmlns:a="http://schemas.openxmlformats.org/drawingml/2006/main">
              <a:ext uri="{FF2B5EF4-FFF2-40B4-BE49-F238E27FC236}">
                <a16:creationId xmlns:a16="http://schemas.microsoft.com/office/drawing/2014/main" id="{E1565DFE-47D5-4164-B969-9E66A4C7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156" y="746890"/>
            <a:ext cx="2858220" cy="6111110"/>
          </a:xfrm>
          <a:custGeom xmlns:a="http://schemas.openxmlformats.org/drawingml/2006/main">
            <a:gdLst>
              <a:gd name="connsiteX0" fmla="*/ 2602092 w 2858220"/>
              <a:gd name="connsiteY0" fmla="*/ 0 h 6111110"/>
              <a:gd name="connsiteX1" fmla="*/ 2608261 w 2858220"/>
              <a:gd name="connsiteY1" fmla="*/ 17881 h 6111110"/>
              <a:gd name="connsiteX2" fmla="*/ 2858220 w 2858220"/>
              <a:gd name="connsiteY2" fmla="*/ 1619391 h 6111110"/>
              <a:gd name="connsiteX3" fmla="*/ 918980 w 2858220"/>
              <a:gd name="connsiteY3" fmla="*/ 5862311 h 6111110"/>
              <a:gd name="connsiteX4" fmla="*/ 649851 w 2858220"/>
              <a:gd name="connsiteY4" fmla="*/ 6111110 h 6111110"/>
              <a:gd name="connsiteX5" fmla="*/ 0 w 2858220"/>
              <a:gd name="connsiteY5" fmla="*/ 6111110 h 6111110"/>
              <a:gd name="connsiteX6" fmla="*/ 344313 w 2858220"/>
              <a:gd name="connsiteY6" fmla="*/ 5850464 h 6111110"/>
              <a:gd name="connsiteX7" fmla="*/ 2825300 w 2858220"/>
              <a:gd name="connsiteY7" fmla="*/ 1405499 h 6111110"/>
              <a:gd name="connsiteX8" fmla="*/ 2681407 w 2858220"/>
              <a:gd name="connsiteY8" fmla="*/ 274117 h 6111110"/>
              <a:gd name="connsiteX9" fmla="*/ 2602092 w 2858220"/>
              <a:gd name="connsiteY9" fmla="*/ 0 h 6111110"/>
            </a:gdLst>
            <a:rect l="l" t="t" r="r" b="b"/>
            <a:pathLst>
              <a:path w="2858220" h="6111110">
                <a:moveTo>
                  <a:pt x="2602092" y="0"/>
                </a:moveTo>
                <a:lnTo>
                  <a:pt x="2608261" y="17881"/>
                </a:lnTo>
                <a:cubicBezTo>
                  <a:pt x="2771795" y="532542"/>
                  <a:pt x="2858220" y="1068635"/>
                  <a:pt x="2858220" y="1619391"/>
                </a:cubicBezTo>
                <a:cubicBezTo>
                  <a:pt x="2858220" y="3210466"/>
                  <a:pt x="2136947" y="4679157"/>
                  <a:pt x="918980" y="5862311"/>
                </a:cubicBezTo>
                <a:lnTo>
                  <a:pt x="649851" y="6111110"/>
                </a:lnTo>
                <a:lnTo>
                  <a:pt x="0" y="6111110"/>
                </a:lnTo>
                <a:lnTo>
                  <a:pt x="344313" y="5850464"/>
                </a:lnTo>
                <a:cubicBezTo>
                  <a:pt x="1902532" y="4610969"/>
                  <a:pt x="2825300" y="3072340"/>
                  <a:pt x="2825300" y="1405499"/>
                </a:cubicBezTo>
                <a:cubicBezTo>
                  <a:pt x="2825300" y="1020844"/>
                  <a:pt x="2776158" y="643016"/>
                  <a:pt x="2681407" y="274117"/>
                </a:cubicBezTo>
                <a:lnTo>
                  <a:pt x="2602092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C246F5C-075F-410D-B804-54B6805E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06" y="1566964"/>
            <a:ext cx="8787133" cy="1383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200" b="1" spc="6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第二届全国高校</a:t>
            </a:r>
            <a:r>
              <a:rPr sz="4200" b="1" spc="6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“</a:t>
            </a:r>
            <a:r>
              <a:rPr sz="4200" b="1" spc="6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启真问智</a:t>
            </a:r>
            <a:r>
              <a:rPr sz="4200" b="1" spc="6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” </a:t>
            </a:r>
            <a:endParaRPr sz="4200" b="1" spc="600"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4200" b="1" spc="6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教育教学人工智能大赛</a:t>
            </a:r>
            <a:endParaRPr sz="4200" b="1" spc="600"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B312783B-8B80-4A82-98E3-90D40BA4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91125"/>
            <a:ext cx="600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 b="1" spc="3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参与赛道：教育教学智能体</a:t>
            </a:r>
            <a:endParaRPr sz="1600" b="1" spc="300"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4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60440998b947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53498" y="0"/>
            <a:ext cx="4638502" cy="6858000"/>
          </a:xfrm>
          <a:prstGeom xmlns:a="http://schemas.openxmlformats.org/drawingml/2006/main" prst="rect">
            <a:avLst/>
          </a:prstGeom>
        </p:spPr>
      </p:pic>
      <p:sp>
        <p:nvSpPr>
          <p:cNvPr id="18" name="product-title">
            <a:extLst xmlns:a="http://schemas.openxmlformats.org/drawingml/2006/main">
              <a:ext uri="{FF2B5EF4-FFF2-40B4-BE49-F238E27FC236}">
                <a16:creationId xmlns:a16="http://schemas.microsoft.com/office/drawing/2014/main" id="{A38C63F8-EBAE-4C7F-BDBE-EA2FCC0E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81375"/>
            <a:ext cx="7429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3418E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03418E"/>
                </a:solidFill>
                <a:latin typeface="微软雅黑"/>
                <a:ea typeface="微软雅黑"/>
                <a:cs typeface="微软雅黑"/>
              </a:rPr>
              <a:t>芯游记 ChipQuest</a:t>
            </a:r>
          </a:p>
        </p:txBody>
      </p:sp>
      <p:sp>
        <p:nvSpPr>
          <p:cNvPr id="19" name="product-subtitle">
            <a:extLst xmlns:a="http://schemas.openxmlformats.org/drawingml/2006/main">
              <a:ext uri="{FF2B5EF4-FFF2-40B4-BE49-F238E27FC236}">
                <a16:creationId xmlns:a16="http://schemas.microsoft.com/office/drawing/2014/main" id="{704A404D-FDBF-4251-B69E-F7FAAB2D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48125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3418E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03418E"/>
                </a:solidFill>
                <a:latin typeface="微软雅黑"/>
                <a:ea typeface="微软雅黑"/>
                <a:cs typeface="微软雅黑"/>
              </a:rPr>
              <a:t>计算机组成原理教学智能体平台</a:t>
            </a:r>
          </a:p>
        </p:txBody>
      </p:sp>
      <p:sp>
        <p:nvSpPr>
          <p:cNvPr id="20" name="product-mechanism">
            <a:extLst xmlns:a="http://schemas.openxmlformats.org/drawingml/2006/main">
              <a:ext uri="{FF2B5EF4-FFF2-40B4-BE49-F238E27FC236}">
                <a16:creationId xmlns:a16="http://schemas.microsoft.com/office/drawing/2014/main" id="{C3AC64B4-E805-4C9F-9AF4-E767D4FF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5295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学生操作 → 证据诊断 → 教师决策 → 补学复测</a:t>
            </a:r>
          </a:p>
        </p:txBody>
      </p:sp>
    </p:spTree>
    <p:extLst>
      <p:ext uri="{BB962C8B-B14F-4D97-AF65-F5344CB8AC3E}">
        <p14:creationId xmlns:p14="http://schemas.microsoft.com/office/powerpoint/2010/main" val="39875281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2B56D5C0-3F32-4711-9806-8B04934F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523" y="3841382"/>
            <a:ext cx="2834140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CONTENTS</a:t>
            </a:r>
            <a:endParaRPr sz="2000" b="1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B9BE893C-5157-4EAE-ACD4-67286291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321" y="3133496"/>
            <a:ext cx="1662545" cy="7078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000" b="1" spc="3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目录</a:t>
            </a:r>
            <a:endParaRPr sz="4000" b="1" spc="30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任意形状 3">
            <a:extLst xmlns:a="http://schemas.openxmlformats.org/drawingml/2006/main">
              <a:ext uri="{FF2B5EF4-FFF2-40B4-BE49-F238E27FC236}">
                <a16:creationId xmlns:a16="http://schemas.microsoft.com/office/drawing/2014/main" id="{527A6EE4-A3A8-4EAC-897C-4A6E6CB7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0688" y="0"/>
            <a:ext cx="4214688" cy="6870988"/>
          </a:xfrm>
          <a:custGeom xmlns:a="http://schemas.openxmlformats.org/drawingml/2006/main">
            <a:gdLst>
              <a:gd name="connsiteX0" fmla="*/ 0 w 4214688"/>
              <a:gd name="connsiteY0" fmla="*/ 0 h 6870988"/>
              <a:gd name="connsiteX1" fmla="*/ 2330773 w 4214688"/>
              <a:gd name="connsiteY1" fmla="*/ 0 h 6870988"/>
              <a:gd name="connsiteX2" fmla="*/ 2422909 w 4214688"/>
              <a:gd name="connsiteY2" fmla="*/ 59067 h 6870988"/>
              <a:gd name="connsiteX3" fmla="*/ 4214688 w 4214688"/>
              <a:gd name="connsiteY3" fmla="*/ 3429000 h 6870988"/>
              <a:gd name="connsiteX4" fmla="*/ 2422909 w 4214688"/>
              <a:gd name="connsiteY4" fmla="*/ 6798933 h 6870988"/>
              <a:gd name="connsiteX5" fmla="*/ 2310514 w 4214688"/>
              <a:gd name="connsiteY5" fmla="*/ 6870988 h 6870988"/>
              <a:gd name="connsiteX6" fmla="*/ 0 w 4214688"/>
              <a:gd name="connsiteY6" fmla="*/ 6870988 h 6870988"/>
              <a:gd name="connsiteX7" fmla="*/ 0 w 4214688"/>
              <a:gd name="connsiteY7" fmla="*/ 0 h 6870988"/>
            </a:gdLst>
            <a:rect l="l" t="t" r="r" b="b"/>
            <a:pathLst>
              <a:path w="4214688" h="6870988">
                <a:moveTo>
                  <a:pt x="0" y="0"/>
                </a:moveTo>
                <a:lnTo>
                  <a:pt x="2330773" y="0"/>
                </a:lnTo>
                <a:lnTo>
                  <a:pt x="2422909" y="59067"/>
                </a:lnTo>
                <a:cubicBezTo>
                  <a:pt x="3503940" y="789398"/>
                  <a:pt x="4214688" y="2026197"/>
                  <a:pt x="4214688" y="3429000"/>
                </a:cubicBezTo>
                <a:cubicBezTo>
                  <a:pt x="4214688" y="4831803"/>
                  <a:pt x="3503940" y="6068603"/>
                  <a:pt x="2422909" y="6798933"/>
                </a:cubicBezTo>
                <a:lnTo>
                  <a:pt x="2310514" y="6870988"/>
                </a:lnTo>
                <a:lnTo>
                  <a:pt x="0" y="687098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870d3be1274d4842"/>
            <a:srcRect l="0" t="0" r="0" b="0"/>
            <a:tile tx="1270000" ty="1270000" sx="100000" sy="100000" flip="none" algn="ctr"/>
          </a:blip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22FDE7C4-FF4C-45C1-AC53-95AFF3DF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256" y="3487439"/>
            <a:ext cx="283414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05428E"/>
                </a:solidFill>
                <a:latin typeface="Arial"/>
                <a:ea typeface="Arial"/>
                <a:cs typeface="Arial"/>
              </a:rPr>
              <a:t>CONTENTS</a:t>
            </a:r>
            <a:endParaRPr sz="2400" b="1">
              <a:solidFill>
                <a:srgbClr val="05428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BA33A394-875D-43AA-87B8-1C4AFA68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4054" y="2440999"/>
            <a:ext cx="1662545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 b="1" spc="300">
                <a:solidFill>
                  <a:srgbClr val="05428E"/>
                </a:solidFill>
                <a:latin typeface="微软雅黑"/>
                <a:ea typeface="微软雅黑"/>
                <a:cs typeface="微软雅黑"/>
              </a:rPr>
              <a:t>目录</a:t>
            </a:r>
            <a:endParaRPr sz="5400" b="1" spc="300">
              <a:solidFill>
                <a:srgbClr val="0542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对角圆角矩形 35">
            <a:extLst xmlns:a="http://schemas.openxmlformats.org/drawingml/2006/main">
              <a:ext uri="{FF2B5EF4-FFF2-40B4-BE49-F238E27FC236}">
                <a16:creationId xmlns:a16="http://schemas.microsoft.com/office/drawing/2014/main" id="{B0104BCD-5018-4210-A2E5-F1D19B1F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4559" y="1326959"/>
            <a:ext cx="3472142" cy="652065"/>
          </a:xfrm>
          <a:prstGeom xmlns:a="http://schemas.openxmlformats.org/drawingml/2006/main" prst="round2DiagRect">
            <a:avLst>
              <a:gd name="adj1" fmla="val 50000"/>
              <a:gd name="adj2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175">
            <a:solidFill>
              <a:srgbClr val="BDE9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1865630">
              <a:spcBef>
                <a:spcPts val="0"/>
              </a:spcBef>
              <a:buNone/>
            </a:pPr>
            <a:endParaRPr sz="1200" spc="-78">
              <a:solidFill>
                <a:srgbClr val="2A37A3"/>
              </a:solidFill>
              <a:latin typeface="阿里巴巴普惠体 2.0 55 Regular"/>
              <a:ea typeface="阿里巴巴普惠体 2.0 55 Regular"/>
              <a:cs typeface="阿里巴巴普惠体 2.0 55 Regular"/>
            </a:endParaRPr>
          </a:p>
        </p:txBody>
      </p:sp>
      <p:sp>
        <p:nvSpPr>
          <p:cNvPr id="10" name="单圆角矩形 9">
            <a:extLst xmlns:a="http://schemas.openxmlformats.org/drawingml/2006/main">
              <a:ext uri="{FF2B5EF4-FFF2-40B4-BE49-F238E27FC236}">
                <a16:creationId xmlns:a16="http://schemas.microsoft.com/office/drawing/2014/main" id="{A4860C9F-A82A-4B9A-96C3-CE622780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4559" y="1326959"/>
            <a:ext cx="786899" cy="652065"/>
          </a:xfrm>
          <a:prstGeom xmlns:a="http://schemas.openxmlformats.org/drawingml/2006/main" prst="round1Rect">
            <a:avLst>
              <a:gd name="adj" fmla="val 20254"/>
            </a:avLst>
          </a:prstGeom>
          <a:solidFill xmlns:a="http://schemas.openxmlformats.org/drawingml/2006/main">
            <a:srgbClr val="05428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阿里巴巴普惠体 2.0 55 Regular"/>
              <a:ea typeface="阿里巴巴普惠体 2.0 55 Regular"/>
              <a:cs typeface="阿里巴巴普惠体 2.0 55 Regular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98544CF4-3C07-4B0F-AF77-D4DD3462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43846" y="1415897"/>
            <a:ext cx="728324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2800" b="1" spc="3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ctr">
              <a:buNone/>
            </a:pPr>
            <a:r>
              <a:rPr sz="2400">
                <a:solidFill>
                  <a:schemeClr val="bg1"/>
                </a:solidFill>
              </a:rPr>
              <a:t>01</a:t>
            </a:r>
            <a:endParaRPr sz="2400">
              <a:solidFill>
                <a:schemeClr val="bg1"/>
              </a:solidFill>
            </a:endParaRPr>
          </a:p>
        </p:txBody>
      </p:sp>
      <p:sp>
        <p:nvSpPr>
          <p:cNvPr id="12" name="文本框 60">
            <a:extLst xmlns:a="http://schemas.openxmlformats.org/drawingml/2006/main">
              <a:ext uri="{FF2B5EF4-FFF2-40B4-BE49-F238E27FC236}">
                <a16:creationId xmlns:a16="http://schemas.microsoft.com/office/drawing/2014/main" id="{624436B5-794B-46EF-B6EE-7A4AE842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1457" y="1415897"/>
            <a:ext cx="2685244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2800" b="1" spc="3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ctr">
              <a:buNone/>
            </a:pPr>
            <a:r>
              <a:rPr sz="2400"/>
              <a:t>作品</a:t>
            </a:r>
            <a:r>
              <a:rPr sz="2400" b="1" spc="30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背景</a:t>
            </a:r>
            <a:endParaRPr sz="2400"/>
          </a:p>
        </p:txBody>
      </p:sp>
      <p:sp>
        <p:nvSpPr>
          <p:cNvPr id="14" name="对角圆角矩形 35">
            <a:extLst xmlns:a="http://schemas.openxmlformats.org/drawingml/2006/main">
              <a:ext uri="{FF2B5EF4-FFF2-40B4-BE49-F238E27FC236}">
                <a16:creationId xmlns:a16="http://schemas.microsoft.com/office/drawing/2014/main" id="{6FBA3116-4B55-4C4D-9BE4-89476B53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83154" y="3327097"/>
            <a:ext cx="3472142" cy="652065"/>
          </a:xfrm>
          <a:prstGeom xmlns:a="http://schemas.openxmlformats.org/drawingml/2006/main" prst="round2DiagRect">
            <a:avLst>
              <a:gd name="adj1" fmla="val 50000"/>
              <a:gd name="adj2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175">
            <a:solidFill>
              <a:srgbClr val="BDE9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1865630">
              <a:spcBef>
                <a:spcPts val="0"/>
              </a:spcBef>
              <a:buNone/>
            </a:pPr>
            <a:endParaRPr sz="1200" spc="-78">
              <a:solidFill>
                <a:srgbClr val="2A37A3"/>
              </a:solidFill>
              <a:latin typeface="阿里巴巴普惠体 2.0 55 Regular"/>
              <a:ea typeface="阿里巴巴普惠体 2.0 55 Regular"/>
              <a:cs typeface="阿里巴巴普惠体 2.0 55 Regular"/>
            </a:endParaRPr>
          </a:p>
        </p:txBody>
      </p:sp>
      <p:sp>
        <p:nvSpPr>
          <p:cNvPr id="15" name="单圆角矩形 20">
            <a:extLst xmlns:a="http://schemas.openxmlformats.org/drawingml/2006/main">
              <a:ext uri="{FF2B5EF4-FFF2-40B4-BE49-F238E27FC236}">
                <a16:creationId xmlns:a16="http://schemas.microsoft.com/office/drawing/2014/main" id="{66E3A722-7A10-4566-8F23-0B89A998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83154" y="3327097"/>
            <a:ext cx="786899" cy="652065"/>
          </a:xfrm>
          <a:prstGeom xmlns:a="http://schemas.openxmlformats.org/drawingml/2006/main" prst="round1Rect">
            <a:avLst>
              <a:gd name="adj" fmla="val 20254"/>
            </a:avLst>
          </a:prstGeom>
          <a:solidFill xmlns:a="http://schemas.openxmlformats.org/drawingml/2006/main">
            <a:srgbClr val="05428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阿里巴巴普惠体 2.0 55 Regular"/>
              <a:ea typeface="阿里巴巴普惠体 2.0 55 Regular"/>
              <a:cs typeface="阿里巴巴普惠体 2.0 55 Regular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DF070B8C-D8C8-4D35-A4E4-8CEDE25B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2441" y="3416035"/>
            <a:ext cx="728324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2800" b="1" spc="3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ctr">
              <a:buNone/>
            </a:pPr>
            <a:r>
              <a:rPr sz="2400">
                <a:solidFill>
                  <a:schemeClr val="bg1"/>
                </a:solidFill>
              </a:rPr>
              <a:t>08</a:t>
            </a:r>
            <a:endParaRPr sz="2400">
              <a:solidFill>
                <a:schemeClr val="bg1"/>
              </a:solidFill>
            </a:endParaRPr>
          </a:p>
        </p:txBody>
      </p:sp>
      <p:sp>
        <p:nvSpPr>
          <p:cNvPr id="17" name="文本框 60">
            <a:extLst xmlns:a="http://schemas.openxmlformats.org/drawingml/2006/main">
              <a:ext uri="{FF2B5EF4-FFF2-40B4-BE49-F238E27FC236}">
                <a16:creationId xmlns:a16="http://schemas.microsoft.com/office/drawing/2014/main" id="{09F79A5B-7A92-4FFA-8E79-F4BE7643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70052" y="3416035"/>
            <a:ext cx="2685244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2800" b="1" spc="3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ctr">
              <a:buNone/>
            </a:pPr>
            <a:r>
              <a:rPr sz="2400" b="1" spc="30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进一步完善计划</a:t>
            </a:r>
            <a:endParaRPr sz="2400"/>
          </a:p>
        </p:txBody>
      </p:sp>
      <p:sp>
        <p:nvSpPr>
          <p:cNvPr id="19" name="对角圆角矩形 35">
            <a:extLst xmlns:a="http://schemas.openxmlformats.org/drawingml/2006/main">
              <a:ext uri="{FF2B5EF4-FFF2-40B4-BE49-F238E27FC236}">
                <a16:creationId xmlns:a16="http://schemas.microsoft.com/office/drawing/2014/main" id="{E59345CE-FAF5-428A-9D69-82B42BCC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4559" y="2304859"/>
            <a:ext cx="3472142" cy="652065"/>
          </a:xfrm>
          <a:prstGeom xmlns:a="http://schemas.openxmlformats.org/drawingml/2006/main" prst="round2DiagRect">
            <a:avLst>
              <a:gd name="adj1" fmla="val 50000"/>
              <a:gd name="adj2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175">
            <a:solidFill>
              <a:srgbClr val="BDE9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1865630">
              <a:spcBef>
                <a:spcPts val="0"/>
              </a:spcBef>
              <a:buNone/>
            </a:pPr>
            <a:endParaRPr sz="1200" spc="-78">
              <a:solidFill>
                <a:srgbClr val="2A37A3"/>
              </a:solidFill>
              <a:latin typeface="阿里巴巴普惠体 2.0 55 Regular"/>
              <a:ea typeface="阿里巴巴普惠体 2.0 55 Regular"/>
              <a:cs typeface="阿里巴巴普惠体 2.0 55 Regular"/>
            </a:endParaRPr>
          </a:p>
        </p:txBody>
      </p:sp>
      <p:sp>
        <p:nvSpPr>
          <p:cNvPr id="20" name="单圆角矩形 20">
            <a:extLst xmlns:a="http://schemas.openxmlformats.org/drawingml/2006/main">
              <a:ext uri="{FF2B5EF4-FFF2-40B4-BE49-F238E27FC236}">
                <a16:creationId xmlns:a16="http://schemas.microsoft.com/office/drawing/2014/main" id="{7D6201D1-5A28-49DD-BC8F-B20CEE2D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4559" y="2304859"/>
            <a:ext cx="786899" cy="652065"/>
          </a:xfrm>
          <a:prstGeom xmlns:a="http://schemas.openxmlformats.org/drawingml/2006/main" prst="round1Rect">
            <a:avLst>
              <a:gd name="adj" fmla="val 20254"/>
            </a:avLst>
          </a:prstGeom>
          <a:solidFill xmlns:a="http://schemas.openxmlformats.org/drawingml/2006/main">
            <a:srgbClr val="05428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阿里巴巴普惠体 2.0 55 Regular"/>
              <a:ea typeface="阿里巴巴普惠体 2.0 55 Regular"/>
              <a:cs typeface="阿里巴巴普惠体 2.0 55 Regular"/>
            </a:endParaR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9EED3AE4-43EE-4345-BDA0-9ED86E11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43846" y="2393797"/>
            <a:ext cx="728324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2800" b="1" spc="3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ctr">
              <a:buNone/>
            </a:pPr>
            <a:r>
              <a:rPr sz="2400">
                <a:solidFill>
                  <a:schemeClr val="bg1"/>
                </a:solidFill>
              </a:rPr>
              <a:t>02</a:t>
            </a:r>
            <a:endParaRPr sz="2400">
              <a:solidFill>
                <a:schemeClr val="bg1"/>
              </a:solidFill>
            </a:endParaRPr>
          </a:p>
        </p:txBody>
      </p:sp>
      <p:sp>
        <p:nvSpPr>
          <p:cNvPr id="22" name="文本框 60">
            <a:extLst xmlns:a="http://schemas.openxmlformats.org/drawingml/2006/main">
              <a:ext uri="{FF2B5EF4-FFF2-40B4-BE49-F238E27FC236}">
                <a16:creationId xmlns:a16="http://schemas.microsoft.com/office/drawing/2014/main" id="{895EACA7-D75E-44C5-9DA6-1BF1368A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1457" y="2393797"/>
            <a:ext cx="2685244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2800" b="1" spc="3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ctr">
              <a:buNone/>
            </a:pPr>
            <a:r>
              <a:rPr sz="2400"/>
              <a:t>作品</a:t>
            </a:r>
            <a:r>
              <a:rPr sz="2400" b="1" spc="30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阐述</a:t>
            </a:r>
            <a:endParaRPr sz="2400"/>
          </a:p>
        </p:txBody>
      </p:sp>
      <p:sp>
        <p:nvSpPr>
          <p:cNvPr id="24" name="对角圆角矩形 35">
            <a:extLst xmlns:a="http://schemas.openxmlformats.org/drawingml/2006/main">
              <a:ext uri="{FF2B5EF4-FFF2-40B4-BE49-F238E27FC236}">
                <a16:creationId xmlns:a16="http://schemas.microsoft.com/office/drawing/2014/main" id="{5CEF1525-75F7-4706-BBA1-14C85EA3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00759" y="1390464"/>
            <a:ext cx="3472142" cy="652065"/>
          </a:xfrm>
          <a:prstGeom xmlns:a="http://schemas.openxmlformats.org/drawingml/2006/main" prst="round2DiagRect">
            <a:avLst>
              <a:gd name="adj1" fmla="val 50000"/>
              <a:gd name="adj2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175">
            <a:solidFill>
              <a:srgbClr val="BDE9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1865630">
              <a:spcBef>
                <a:spcPts val="0"/>
              </a:spcBef>
              <a:buNone/>
            </a:pPr>
            <a:endParaRPr sz="1200" spc="-78">
              <a:solidFill>
                <a:srgbClr val="2A37A3"/>
              </a:solidFill>
              <a:latin typeface="阿里巴巴普惠体 2.0 55 Regular"/>
              <a:ea typeface="阿里巴巴普惠体 2.0 55 Regular"/>
              <a:cs typeface="阿里巴巴普惠体 2.0 55 Regular"/>
            </a:endParaRPr>
          </a:p>
        </p:txBody>
      </p:sp>
      <p:sp>
        <p:nvSpPr>
          <p:cNvPr id="25" name="单圆角矩形 20">
            <a:extLst xmlns:a="http://schemas.openxmlformats.org/drawingml/2006/main">
              <a:ext uri="{FF2B5EF4-FFF2-40B4-BE49-F238E27FC236}">
                <a16:creationId xmlns:a16="http://schemas.microsoft.com/office/drawing/2014/main" id="{BA2879AF-F745-4809-912B-96B6426E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00759" y="1390464"/>
            <a:ext cx="786899" cy="652065"/>
          </a:xfrm>
          <a:prstGeom xmlns:a="http://schemas.openxmlformats.org/drawingml/2006/main" prst="round1Rect">
            <a:avLst>
              <a:gd name="adj" fmla="val 20254"/>
            </a:avLst>
          </a:prstGeom>
          <a:solidFill xmlns:a="http://schemas.openxmlformats.org/drawingml/2006/main">
            <a:srgbClr val="05428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阿里巴巴普惠体 2.0 55 Regular"/>
              <a:ea typeface="阿里巴巴普惠体 2.0 55 Regular"/>
              <a:cs typeface="阿里巴巴普惠体 2.0 55 Regular"/>
            </a:endParaRP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A07257C8-587D-4F93-BF54-31181881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30046" y="1479402"/>
            <a:ext cx="728324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2800" b="1" spc="3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ctr">
              <a:buNone/>
            </a:pPr>
            <a:r>
              <a:rPr sz="2400">
                <a:solidFill>
                  <a:schemeClr val="bg1"/>
                </a:solidFill>
              </a:rPr>
              <a:t>06</a:t>
            </a:r>
            <a:endParaRPr sz="2400">
              <a:solidFill>
                <a:schemeClr val="bg1"/>
              </a:solidFill>
            </a:endParaRPr>
          </a:p>
        </p:txBody>
      </p:sp>
      <p:sp>
        <p:nvSpPr>
          <p:cNvPr id="27" name="文本框 60">
            <a:extLst xmlns:a="http://schemas.openxmlformats.org/drawingml/2006/main">
              <a:ext uri="{FF2B5EF4-FFF2-40B4-BE49-F238E27FC236}">
                <a16:creationId xmlns:a16="http://schemas.microsoft.com/office/drawing/2014/main" id="{706BCF82-D7CD-46CD-93D1-49FD7FF5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87657" y="1479402"/>
            <a:ext cx="2685244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2800" b="1" spc="3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ctr">
              <a:buNone/>
            </a:pPr>
            <a:r>
              <a:rPr sz="2400" b="1" spc="30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应用价值</a:t>
            </a:r>
            <a:endParaRPr sz="2400"/>
          </a:p>
        </p:txBody>
      </p:sp>
      <p:sp>
        <p:nvSpPr>
          <p:cNvPr id="29" name="对角圆角矩形 35">
            <a:extLst xmlns:a="http://schemas.openxmlformats.org/drawingml/2006/main">
              <a:ext uri="{FF2B5EF4-FFF2-40B4-BE49-F238E27FC236}">
                <a16:creationId xmlns:a16="http://schemas.microsoft.com/office/drawing/2014/main" id="{36F662F5-E01F-4DEE-8A4C-B0819252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4559" y="3282759"/>
            <a:ext cx="3472142" cy="652065"/>
          </a:xfrm>
          <a:prstGeom xmlns:a="http://schemas.openxmlformats.org/drawingml/2006/main" prst="round2DiagRect">
            <a:avLst>
              <a:gd name="adj1" fmla="val 50000"/>
              <a:gd name="adj2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175">
            <a:solidFill>
              <a:srgbClr val="BDE9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1865630">
              <a:spcBef>
                <a:spcPts val="0"/>
              </a:spcBef>
              <a:buNone/>
            </a:pPr>
            <a:endParaRPr sz="1200" spc="-78">
              <a:solidFill>
                <a:srgbClr val="2A37A3"/>
              </a:solidFill>
              <a:latin typeface="阿里巴巴普惠体 2.0 55 Regular"/>
              <a:ea typeface="阿里巴巴普惠体 2.0 55 Regular"/>
              <a:cs typeface="阿里巴巴普惠体 2.0 55 Regular"/>
            </a:endParaRPr>
          </a:p>
        </p:txBody>
      </p:sp>
      <p:sp>
        <p:nvSpPr>
          <p:cNvPr id="30" name="单圆角矩形 20">
            <a:extLst xmlns:a="http://schemas.openxmlformats.org/drawingml/2006/main">
              <a:ext uri="{FF2B5EF4-FFF2-40B4-BE49-F238E27FC236}">
                <a16:creationId xmlns:a16="http://schemas.microsoft.com/office/drawing/2014/main" id="{46063218-673B-47CD-B76D-CB1585B9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4559" y="3282759"/>
            <a:ext cx="786899" cy="652065"/>
          </a:xfrm>
          <a:prstGeom xmlns:a="http://schemas.openxmlformats.org/drawingml/2006/main" prst="round1Rect">
            <a:avLst>
              <a:gd name="adj" fmla="val 20254"/>
            </a:avLst>
          </a:prstGeom>
          <a:solidFill xmlns:a="http://schemas.openxmlformats.org/drawingml/2006/main">
            <a:srgbClr val="05428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阿里巴巴普惠体 2.0 55 Regular"/>
              <a:ea typeface="阿里巴巴普惠体 2.0 55 Regular"/>
              <a:cs typeface="阿里巴巴普惠体 2.0 55 Regular"/>
            </a:endParaRP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9DC66BDC-EF43-464E-BA6F-7356932E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43846" y="3371697"/>
            <a:ext cx="728324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2800" b="1" spc="3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ctr">
              <a:buNone/>
            </a:pPr>
            <a:r>
              <a:rPr sz="2400">
                <a:solidFill>
                  <a:schemeClr val="bg1"/>
                </a:solidFill>
              </a:rPr>
              <a:t>03</a:t>
            </a:r>
            <a:endParaRPr sz="2400">
              <a:solidFill>
                <a:schemeClr val="bg1"/>
              </a:solidFill>
            </a:endParaRPr>
          </a:p>
        </p:txBody>
      </p:sp>
      <p:sp>
        <p:nvSpPr>
          <p:cNvPr id="32" name="文本框 60">
            <a:extLst xmlns:a="http://schemas.openxmlformats.org/drawingml/2006/main">
              <a:ext uri="{FF2B5EF4-FFF2-40B4-BE49-F238E27FC236}">
                <a16:creationId xmlns:a16="http://schemas.microsoft.com/office/drawing/2014/main" id="{A59EAF3B-46E4-477D-BC88-BBE8AB32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1457" y="3371697"/>
            <a:ext cx="2685244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2800" b="1" spc="3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ctr">
              <a:buNone/>
            </a:pPr>
            <a:r>
              <a:rPr sz="2400"/>
              <a:t>作品</a:t>
            </a:r>
            <a:r>
              <a:rPr sz="2400" b="1" spc="30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功能设计</a:t>
            </a:r>
            <a:endParaRPr sz="2400"/>
          </a:p>
        </p:txBody>
      </p:sp>
      <p:sp>
        <p:nvSpPr>
          <p:cNvPr id="34" name="对角圆角矩形 35">
            <a:extLst xmlns:a="http://schemas.openxmlformats.org/drawingml/2006/main">
              <a:ext uri="{FF2B5EF4-FFF2-40B4-BE49-F238E27FC236}">
                <a16:creationId xmlns:a16="http://schemas.microsoft.com/office/drawing/2014/main" id="{F118841C-7032-4CAB-B645-360F7F29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00759" y="2368364"/>
            <a:ext cx="3472142" cy="652065"/>
          </a:xfrm>
          <a:prstGeom xmlns:a="http://schemas.openxmlformats.org/drawingml/2006/main" prst="round2DiagRect">
            <a:avLst>
              <a:gd name="adj1" fmla="val 50000"/>
              <a:gd name="adj2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175">
            <a:solidFill>
              <a:srgbClr val="BDE9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1865630">
              <a:spcBef>
                <a:spcPts val="0"/>
              </a:spcBef>
              <a:buNone/>
            </a:pPr>
            <a:endParaRPr sz="1200" spc="-78">
              <a:solidFill>
                <a:srgbClr val="2A37A3"/>
              </a:solidFill>
              <a:latin typeface="阿里巴巴普惠体 2.0 55 Regular"/>
              <a:ea typeface="阿里巴巴普惠体 2.0 55 Regular"/>
              <a:cs typeface="阿里巴巴普惠体 2.0 55 Regular"/>
            </a:endParaRPr>
          </a:p>
        </p:txBody>
      </p:sp>
      <p:sp>
        <p:nvSpPr>
          <p:cNvPr id="35" name="单圆角矩形 20">
            <a:extLst xmlns:a="http://schemas.openxmlformats.org/drawingml/2006/main">
              <a:ext uri="{FF2B5EF4-FFF2-40B4-BE49-F238E27FC236}">
                <a16:creationId xmlns:a16="http://schemas.microsoft.com/office/drawing/2014/main" id="{DC920957-2E04-4CF3-96AA-CBB91153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00759" y="2368364"/>
            <a:ext cx="786899" cy="652065"/>
          </a:xfrm>
          <a:prstGeom xmlns:a="http://schemas.openxmlformats.org/drawingml/2006/main" prst="round1Rect">
            <a:avLst>
              <a:gd name="adj" fmla="val 20254"/>
            </a:avLst>
          </a:prstGeom>
          <a:solidFill xmlns:a="http://schemas.openxmlformats.org/drawingml/2006/main">
            <a:srgbClr val="05428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阿里巴巴普惠体 2.0 55 Regular"/>
              <a:ea typeface="阿里巴巴普惠体 2.0 55 Regular"/>
              <a:cs typeface="阿里巴巴普惠体 2.0 55 Regular"/>
            </a:endParaR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999061A0-379C-437F-89BE-14CB8A9C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30046" y="2457302"/>
            <a:ext cx="728324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2800" b="1" spc="3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ctr">
              <a:buNone/>
            </a:pPr>
            <a:r>
              <a:rPr sz="2400">
                <a:solidFill>
                  <a:schemeClr val="bg1"/>
                </a:solidFill>
              </a:rPr>
              <a:t>07</a:t>
            </a:r>
            <a:endParaRPr sz="2400">
              <a:solidFill>
                <a:schemeClr val="bg1"/>
              </a:solidFill>
            </a:endParaRPr>
          </a:p>
        </p:txBody>
      </p:sp>
      <p:sp>
        <p:nvSpPr>
          <p:cNvPr id="37" name="文本框 60">
            <a:extLst xmlns:a="http://schemas.openxmlformats.org/drawingml/2006/main">
              <a:ext uri="{FF2B5EF4-FFF2-40B4-BE49-F238E27FC236}">
                <a16:creationId xmlns:a16="http://schemas.microsoft.com/office/drawing/2014/main" id="{93DAEB29-05F5-439F-83FE-A6BF63B5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87657" y="2457302"/>
            <a:ext cx="2685244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2800" b="1" spc="3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ctr">
              <a:buNone/>
            </a:pPr>
            <a:r>
              <a:rPr sz="2400" b="1" spc="30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创新点</a:t>
            </a:r>
            <a:endParaRPr sz="2400"/>
          </a:p>
        </p:txBody>
      </p:sp>
      <p:sp>
        <p:nvSpPr>
          <p:cNvPr id="39" name="对角圆角矩形 35">
            <a:extLst xmlns:a="http://schemas.openxmlformats.org/drawingml/2006/main">
              <a:ext uri="{FF2B5EF4-FFF2-40B4-BE49-F238E27FC236}">
                <a16:creationId xmlns:a16="http://schemas.microsoft.com/office/drawing/2014/main" id="{1124C1A7-66B3-4068-8A64-FC5C0F29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4559" y="4260659"/>
            <a:ext cx="3472142" cy="652065"/>
          </a:xfrm>
          <a:prstGeom xmlns:a="http://schemas.openxmlformats.org/drawingml/2006/main" prst="round2DiagRect">
            <a:avLst>
              <a:gd name="adj1" fmla="val 50000"/>
              <a:gd name="adj2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175">
            <a:solidFill>
              <a:srgbClr val="BDE9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1865630">
              <a:spcBef>
                <a:spcPts val="0"/>
              </a:spcBef>
              <a:buNone/>
            </a:pPr>
            <a:endParaRPr sz="1200" spc="-78">
              <a:solidFill>
                <a:srgbClr val="2A37A3"/>
              </a:solidFill>
              <a:latin typeface="阿里巴巴普惠体 2.0 55 Regular"/>
              <a:ea typeface="阿里巴巴普惠体 2.0 55 Regular"/>
              <a:cs typeface="阿里巴巴普惠体 2.0 55 Regular"/>
            </a:endParaRPr>
          </a:p>
        </p:txBody>
      </p:sp>
      <p:sp>
        <p:nvSpPr>
          <p:cNvPr id="40" name="单圆角矩形 20">
            <a:extLst xmlns:a="http://schemas.openxmlformats.org/drawingml/2006/main">
              <a:ext uri="{FF2B5EF4-FFF2-40B4-BE49-F238E27FC236}">
                <a16:creationId xmlns:a16="http://schemas.microsoft.com/office/drawing/2014/main" id="{85341081-EBC2-4B17-9027-4F5DAA29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4559" y="4260659"/>
            <a:ext cx="786899" cy="652065"/>
          </a:xfrm>
          <a:prstGeom xmlns:a="http://schemas.openxmlformats.org/drawingml/2006/main" prst="round1Rect">
            <a:avLst>
              <a:gd name="adj" fmla="val 20254"/>
            </a:avLst>
          </a:prstGeom>
          <a:solidFill xmlns:a="http://schemas.openxmlformats.org/drawingml/2006/main">
            <a:srgbClr val="05428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阿里巴巴普惠体 2.0 55 Regular"/>
              <a:ea typeface="阿里巴巴普惠体 2.0 55 Regular"/>
              <a:cs typeface="阿里巴巴普惠体 2.0 55 Regular"/>
            </a:endParaRP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BD1F7C3A-CAE0-428C-B529-D7D49A6D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43846" y="4349597"/>
            <a:ext cx="728324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2800" b="1" spc="3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ctr">
              <a:buNone/>
            </a:pPr>
            <a:r>
              <a:rPr sz="2400">
                <a:solidFill>
                  <a:schemeClr val="bg1"/>
                </a:solidFill>
              </a:rPr>
              <a:t>04</a:t>
            </a:r>
            <a:endParaRPr sz="2400">
              <a:solidFill>
                <a:schemeClr val="bg1"/>
              </a:solidFill>
            </a:endParaRPr>
          </a:p>
        </p:txBody>
      </p:sp>
      <p:sp>
        <p:nvSpPr>
          <p:cNvPr id="42" name="文本框 60">
            <a:extLst xmlns:a="http://schemas.openxmlformats.org/drawingml/2006/main">
              <a:ext uri="{FF2B5EF4-FFF2-40B4-BE49-F238E27FC236}">
                <a16:creationId xmlns:a16="http://schemas.microsoft.com/office/drawing/2014/main" id="{0BDE1188-0C2D-45B7-8A69-B117EB90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1457" y="4349597"/>
            <a:ext cx="2685244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2800" b="1" spc="3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ctr">
              <a:buNone/>
            </a:pPr>
            <a:r>
              <a:rPr sz="2400" b="1" spc="30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技术实现方案</a:t>
            </a:r>
            <a:endParaRPr sz="2400"/>
          </a:p>
        </p:txBody>
      </p:sp>
      <p:sp>
        <p:nvSpPr>
          <p:cNvPr id="44" name="对角圆角矩形 35">
            <a:extLst xmlns:a="http://schemas.openxmlformats.org/drawingml/2006/main">
              <a:ext uri="{FF2B5EF4-FFF2-40B4-BE49-F238E27FC236}">
                <a16:creationId xmlns:a16="http://schemas.microsoft.com/office/drawing/2014/main" id="{F66DC2A1-5452-4410-8371-45645A14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4559" y="5238559"/>
            <a:ext cx="3472142" cy="652065"/>
          </a:xfrm>
          <a:prstGeom xmlns:a="http://schemas.openxmlformats.org/drawingml/2006/main" prst="round2DiagRect">
            <a:avLst>
              <a:gd name="adj1" fmla="val 50000"/>
              <a:gd name="adj2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175">
            <a:solidFill>
              <a:srgbClr val="BDE9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 defTabSz="1865630">
              <a:spcBef>
                <a:spcPts val="0"/>
              </a:spcBef>
              <a:buNone/>
            </a:pPr>
            <a:endParaRPr sz="1200" spc="-78">
              <a:solidFill>
                <a:srgbClr val="2A37A3"/>
              </a:solidFill>
              <a:latin typeface="阿里巴巴普惠体 2.0 55 Regular"/>
              <a:ea typeface="阿里巴巴普惠体 2.0 55 Regular"/>
              <a:cs typeface="阿里巴巴普惠体 2.0 55 Regular"/>
            </a:endParaRPr>
          </a:p>
        </p:txBody>
      </p:sp>
      <p:sp>
        <p:nvSpPr>
          <p:cNvPr id="45" name="单圆角矩形 20">
            <a:extLst xmlns:a="http://schemas.openxmlformats.org/drawingml/2006/main">
              <a:ext uri="{FF2B5EF4-FFF2-40B4-BE49-F238E27FC236}">
                <a16:creationId xmlns:a16="http://schemas.microsoft.com/office/drawing/2014/main" id="{8DF82D2C-6A70-4521-AC18-7035EF04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14559" y="5238559"/>
            <a:ext cx="786899" cy="652065"/>
          </a:xfrm>
          <a:prstGeom xmlns:a="http://schemas.openxmlformats.org/drawingml/2006/main" prst="round1Rect">
            <a:avLst>
              <a:gd name="adj" fmla="val 20254"/>
            </a:avLst>
          </a:prstGeom>
          <a:solidFill xmlns:a="http://schemas.openxmlformats.org/drawingml/2006/main">
            <a:srgbClr val="05428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阿里巴巴普惠体 2.0 55 Regular"/>
              <a:ea typeface="阿里巴巴普惠体 2.0 55 Regular"/>
              <a:cs typeface="阿里巴巴普惠体 2.0 55 Regular"/>
            </a:endParaRPr>
          </a:p>
        </p:txBody>
      </p:sp>
      <p:sp>
        <p:nvSpPr>
          <p:cNvPr id="46" name="文本框 45">
            <a:extLst xmlns:a="http://schemas.openxmlformats.org/drawingml/2006/main">
              <a:ext uri="{FF2B5EF4-FFF2-40B4-BE49-F238E27FC236}">
                <a16:creationId xmlns:a16="http://schemas.microsoft.com/office/drawing/2014/main" id="{6AD3AD63-E005-4912-92CB-D1B0BD23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43846" y="5327497"/>
            <a:ext cx="728324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2800" b="1" spc="3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ctr">
              <a:buNone/>
            </a:pPr>
            <a:r>
              <a:rPr sz="2400">
                <a:solidFill>
                  <a:schemeClr val="bg1"/>
                </a:solidFill>
              </a:rPr>
              <a:t>05</a:t>
            </a:r>
            <a:endParaRPr sz="2400">
              <a:solidFill>
                <a:schemeClr val="bg1"/>
              </a:solidFill>
            </a:endParaRPr>
          </a:p>
        </p:txBody>
      </p:sp>
      <p:sp>
        <p:nvSpPr>
          <p:cNvPr id="47" name="文本框 60">
            <a:extLst xmlns:a="http://schemas.openxmlformats.org/drawingml/2006/main">
              <a:ext uri="{FF2B5EF4-FFF2-40B4-BE49-F238E27FC236}">
                <a16:creationId xmlns:a16="http://schemas.microsoft.com/office/drawing/2014/main" id="{517B7637-2515-47E6-AF07-5672BB5E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01457" y="5327497"/>
            <a:ext cx="2685244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sz="2800" b="1" spc="30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ctr">
              <a:buNone/>
            </a:pPr>
            <a:r>
              <a:rPr sz="2400" b="1" spc="30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运行效果</a:t>
            </a:r>
            <a:endParaRPr sz="2400"/>
          </a:p>
        </p:txBody>
      </p:sp>
      <p:sp>
        <p:nvSpPr>
          <p:cNvPr id="4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423A8BA-32ED-4E6C-984B-A5C61881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515100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3418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3418E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8874109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82C9F4E2-474E-42A2-98FE-3B028B0B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1627" y="3842828"/>
            <a:ext cx="3535572" cy="4571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BD2F2">
              <a:alpha val="42000"/>
            </a:srgb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Source Han Sans CN Regular"/>
              <a:ea typeface="Source Han Sans CN Regular"/>
              <a:cs typeface="Source Han Sans CN Regular"/>
            </a:endParaRPr>
          </a:p>
        </p:txBody>
      </p:sp>
      <p:sp>
        <p:nvSpPr>
          <p:cNvPr id="5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D4CEF214-B9BF-4364-A132-16F851FA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626" y="3842652"/>
            <a:ext cx="536145" cy="45719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100000">
                <a:srgbClr val="207DDD"/>
              </a:gs>
              <a:gs pos="0">
                <a:srgbClr val="1F50AD"/>
              </a:gs>
            </a:gsLst>
            <a:lin ang="16200000" scaled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gradFill>
                <a:gsLst>
                  <a:gs pos="100000">
                    <a:srgbClr val="1B999B"/>
                  </a:gs>
                  <a:gs pos="0">
                    <a:srgbClr val="164928"/>
                  </a:gs>
                </a:gsLst>
                <a:lin ang="0" scaled="1"/>
              </a:gradFill>
              <a:latin typeface="Source Han Sans CN Regular"/>
              <a:ea typeface="Source Han Sans CN Regular"/>
              <a:cs typeface="Source Han Sans CN Regular"/>
            </a:endParaRPr>
          </a:p>
        </p:txBody>
      </p:sp>
      <p:sp>
        <p:nvSpPr>
          <p:cNvPr id="6" name="副标题 2">
            <a:extLst xmlns:a="http://schemas.openxmlformats.org/drawingml/2006/main">
              <a:ext uri="{FF2B5EF4-FFF2-40B4-BE49-F238E27FC236}">
                <a16:creationId xmlns:a16="http://schemas.microsoft.com/office/drawing/2014/main" id="{B7CB22B7-9815-4BB2-879F-B3C0874E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946" y="2961144"/>
            <a:ext cx="4741853" cy="6182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>
            <a:noAutofit/>
          </a:bodyPr>
          <a:lstStyle xmlns:a="http://schemas.openxmlformats.org/drawingml/2006/main">
            <a:lvl1pPr marL="0" indent="0" algn="ctr" defTabSz="91440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/>
              <a:buNone/>
              <a:defRPr sz="2400" u="none" kern="1200" cap="none" spc="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2000" u="none" kern="1200" cap="none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800" u="none" kern="1200" cap="none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/>
              <a:buNone/>
              <a:defRPr sz="1600" u="none" kern="1200" cap="none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/>
              <a:buNone/>
              <a:defRPr sz="1600" u="none" kern="1200" cap="none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600" b="1">
                <a:solidFill>
                  <a:srgbClr val="05428E"/>
                </a:solidFill>
                <a:latin typeface="微软雅黑"/>
                <a:ea typeface="微软雅黑"/>
                <a:cs typeface="微软雅黑"/>
              </a:rPr>
              <a:t>作品背景</a:t>
            </a:r>
            <a:endParaRPr sz="3600" b="1">
              <a:solidFill>
                <a:srgbClr val="0542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2FEB3C6-0372-41F5-A226-3D1EF2C9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28412"/>
            <a:ext cx="1595220" cy="2401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90170" tIns="46990" rIns="90170" bIns="4699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buNone/>
              <a:defRPr sz="26000" b="1" u="none" cap="none" spc="300" baseline="0">
                <a:gradFill flip="none" rotWithShape="1">
                  <a:gsLst>
                    <a:gs pos="100000">
                      <a:schemeClr val="accent1"/>
                    </a:gs>
                    <a:gs pos="0">
                      <a:schemeClr val="accent2"/>
                    </a:gs>
                  </a:gsLst>
                  <a:lin ang="16200000" scaled="0"/>
                  <a:tileRect/>
                </a:gradFill>
                <a:latin typeface="Source Han Sans CN Heavy"/>
                <a:ea typeface="Source Han Sans CN Heavy"/>
                <a:cs typeface="Source Han Sans CN Heavy"/>
              </a:defRPr>
            </a:lvl1pPr>
          </a:lstStyle>
          <a:p xmlns:a="http://schemas.openxmlformats.org/drawingml/2006/main">
            <a:pPr algn="r" defTabSz="457200">
              <a:buNone/>
            </a:pPr>
            <a:r>
              <a:rPr sz="8000">
                <a:gradFill rotWithShape="1">
                  <a:gsLst>
                    <a:gs pos="100000">
                      <a:srgbClr val="207DDD"/>
                    </a:gs>
                    <a:gs pos="0">
                      <a:srgbClr val="1F50AD"/>
                    </a:gs>
                  </a:gsLst>
                  <a:lin ang="16200000" scaled="0"/>
                  <a:tileRect/>
                </a:gradFill>
                <a:latin typeface="微软雅黑"/>
                <a:ea typeface="微软雅黑"/>
                <a:cs typeface="微软雅黑"/>
              </a:rPr>
              <a:t>01</a:t>
            </a:r>
            <a:endParaRPr sz="8000">
              <a:gradFill flip="none" rotWithShape="1">
                <a:gsLst>
                  <a:gs pos="100000">
                    <a:srgbClr val="207DDD"/>
                  </a:gs>
                  <a:gs pos="0">
                    <a:srgbClr val="1F50AD"/>
                  </a:gs>
                </a:gsLst>
                <a:lin ang="16200000" scaled="0"/>
                <a:tileRect/>
              </a:gra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任意形状 15">
            <a:extLst xmlns:a="http://schemas.openxmlformats.org/drawingml/2006/main">
              <a:ext uri="{FF2B5EF4-FFF2-40B4-BE49-F238E27FC236}">
                <a16:creationId xmlns:a16="http://schemas.microsoft.com/office/drawing/2014/main" id="{69A194CE-172F-4F57-BD96-E8A8B6A0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0688" y="0"/>
            <a:ext cx="4214688" cy="6870988"/>
          </a:xfrm>
          <a:custGeom xmlns:a="http://schemas.openxmlformats.org/drawingml/2006/main">
            <a:gdLst>
              <a:gd name="connsiteX0" fmla="*/ 0 w 4214688"/>
              <a:gd name="connsiteY0" fmla="*/ 0 h 6870988"/>
              <a:gd name="connsiteX1" fmla="*/ 2330773 w 4214688"/>
              <a:gd name="connsiteY1" fmla="*/ 0 h 6870988"/>
              <a:gd name="connsiteX2" fmla="*/ 2422909 w 4214688"/>
              <a:gd name="connsiteY2" fmla="*/ 59067 h 6870988"/>
              <a:gd name="connsiteX3" fmla="*/ 4214688 w 4214688"/>
              <a:gd name="connsiteY3" fmla="*/ 3429000 h 6870988"/>
              <a:gd name="connsiteX4" fmla="*/ 2422909 w 4214688"/>
              <a:gd name="connsiteY4" fmla="*/ 6798933 h 6870988"/>
              <a:gd name="connsiteX5" fmla="*/ 2310514 w 4214688"/>
              <a:gd name="connsiteY5" fmla="*/ 6870988 h 6870988"/>
              <a:gd name="connsiteX6" fmla="*/ 0 w 4214688"/>
              <a:gd name="connsiteY6" fmla="*/ 6870988 h 6870988"/>
              <a:gd name="connsiteX7" fmla="*/ 0 w 4214688"/>
              <a:gd name="connsiteY7" fmla="*/ 0 h 6870988"/>
            </a:gdLst>
            <a:rect l="l" t="t" r="r" b="b"/>
            <a:pathLst>
              <a:path w="4214688" h="6870988">
                <a:moveTo>
                  <a:pt x="0" y="0"/>
                </a:moveTo>
                <a:lnTo>
                  <a:pt x="2330773" y="0"/>
                </a:lnTo>
                <a:lnTo>
                  <a:pt x="2422909" y="59067"/>
                </a:lnTo>
                <a:cubicBezTo>
                  <a:pt x="3503940" y="789398"/>
                  <a:pt x="4214688" y="2026197"/>
                  <a:pt x="4214688" y="3429000"/>
                </a:cubicBezTo>
                <a:cubicBezTo>
                  <a:pt x="4214688" y="4831803"/>
                  <a:pt x="3503940" y="6068603"/>
                  <a:pt x="2422909" y="6798933"/>
                </a:cubicBezTo>
                <a:lnTo>
                  <a:pt x="2310514" y="6870988"/>
                </a:lnTo>
                <a:lnTo>
                  <a:pt x="0" y="687098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739077ac687b4972"/>
            <a:srcRect l="0" t="0" r="0" b="0"/>
            <a:tile tx="1270000" ty="1270000" sx="100000" sy="100000" flip="none" algn="ctr"/>
          </a:blip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8651018-E514-4865-9128-A8554E5A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515100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3418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3418E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560491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CBC9BE2-1499-48B4-ADB5-BD57E96E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248" y="1753579"/>
            <a:ext cx="10647502" cy="262989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accent1">
                <a:alpha val="49677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直线连接符 4">
            <a:extLst xmlns:a="http://schemas.openxmlformats.org/drawingml/2006/main">
              <a:ext uri="{FF2B5EF4-FFF2-40B4-BE49-F238E27FC236}">
                <a16:creationId xmlns:a16="http://schemas.microsoft.com/office/drawing/2014/main" id="{B7051DE3-807A-4A87-A567-163FA2BA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900" y="1057450"/>
            <a:ext cx="11488967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1">
                <a:alpha val="74042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F737250-EC12-4670-8111-4E294A6A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408" y="534230"/>
            <a:ext cx="952527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SzPct val="90000"/>
              <a:buNone/>
            </a:pPr>
            <a:r>
              <a:rPr sz="2800" b="1" spc="12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从实验错误到教学行动</a:t>
            </a:r>
            <a:endParaRPr sz="2800" b="1" spc="120"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6CEEAE1-FB7F-48AE-BED6-495A2215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" y="534231"/>
            <a:ext cx="457200" cy="523220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4397538-2016-4F80-B684-4BC2F6DA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248" y="4517137"/>
            <a:ext cx="10647502" cy="156754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accent1">
                <a:alpha val="49677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E18C87F1-8667-4485-B1A1-96F65D328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726" y="1997902"/>
            <a:ext cx="10032547" cy="1956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6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6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学生端：抽象数据通路，需要实际连接与观察</a:t>
            </a:r>
            <a:endParaRPr sz="17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6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6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一次失败可能来自连线、端口或信号传播，也可能涉及概念理解</a:t>
            </a:r>
            <a:endParaRPr sz="17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6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6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需要看到“实际结果—预期结果”的差异，再决定如何修正</a:t>
            </a:r>
            <a:endParaRPr sz="17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20000"/>
              </a:lnSpc>
              <a:buSzPct val="80000"/>
              <a:buNone/>
            </a:pPr>
            <a:r>
              <a:rPr sz="1700" spc="14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/>
            </a:r>
            <a:endParaRPr sz="17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6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6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教师端：汇总之后，还要找到依据并安排下一步</a:t>
            </a:r>
            <a:endParaRPr sz="17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6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6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需要按学生、实验和知识目标回看，并发布定向补练</a:t>
            </a:r>
            <a:endParaRPr sz="17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CC7094C3-8BAF-47B4-9968-C16D2FD9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726" y="4793479"/>
            <a:ext cx="10032547" cy="10070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6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6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设计目标：把反馈连接到可执行的学习活动</a:t>
            </a:r>
            <a:endParaRPr sz="17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6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6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保留诊断证据、教师调整和复测过程，支持一次完整教学活动</a:t>
            </a:r>
            <a:endParaRPr sz="17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cope-caption">
            <a:extLst xmlns:a="http://schemas.openxmlformats.org/drawingml/2006/main">
              <a:ext uri="{FF2B5EF4-FFF2-40B4-BE49-F238E27FC236}">
                <a16:creationId xmlns:a16="http://schemas.microsoft.com/office/drawing/2014/main" id="{341C2BDC-6CC5-44AE-8950-B58E83EA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以上是系统设计问题与目标；真实课堂的学习增益和教师省时尚待试教。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901A260-F677-4946-AAF9-DB772732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515100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3418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3418E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4149468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37523FCC-7E90-481A-AA56-38DBAD82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1627" y="3842828"/>
            <a:ext cx="3535572" cy="4571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BD2F2">
              <a:alpha val="42000"/>
            </a:srgb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Source Han Sans CN Regular"/>
              <a:ea typeface="Source Han Sans CN Regular"/>
              <a:cs typeface="Source Han Sans CN Regular"/>
            </a:endParaRPr>
          </a:p>
        </p:txBody>
      </p:sp>
      <p:sp>
        <p:nvSpPr>
          <p:cNvPr id="3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2B2953C7-72A4-4D55-B384-25AC8BC9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626" y="3842652"/>
            <a:ext cx="536145" cy="45719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100000">
                <a:srgbClr val="207DDD"/>
              </a:gs>
              <a:gs pos="0">
                <a:srgbClr val="1F50AD"/>
              </a:gs>
            </a:gsLst>
            <a:lin ang="16200000" scaled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gradFill>
                <a:gsLst>
                  <a:gs pos="100000">
                    <a:srgbClr val="1B999B"/>
                  </a:gs>
                  <a:gs pos="0">
                    <a:srgbClr val="164928"/>
                  </a:gs>
                </a:gsLst>
                <a:lin ang="0" scaled="1"/>
              </a:gradFill>
              <a:latin typeface="Source Han Sans CN Regular"/>
              <a:ea typeface="Source Han Sans CN Regular"/>
              <a:cs typeface="Source Han Sans CN Regular"/>
            </a:endParaRPr>
          </a:p>
        </p:txBody>
      </p:sp>
      <p:sp>
        <p:nvSpPr>
          <p:cNvPr id="11" name="副标题 2">
            <a:extLst xmlns:a="http://schemas.openxmlformats.org/drawingml/2006/main">
              <a:ext uri="{FF2B5EF4-FFF2-40B4-BE49-F238E27FC236}">
                <a16:creationId xmlns:a16="http://schemas.microsoft.com/office/drawing/2014/main" id="{90B97304-5DC8-41E3-9B6C-9391F3F0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946" y="2961144"/>
            <a:ext cx="4741853" cy="6182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>
            <a:noAutofit/>
          </a:bodyPr>
          <a:lstStyle xmlns:a="http://schemas.openxmlformats.org/drawingml/2006/main">
            <a:lvl1pPr marL="0" indent="0" algn="ctr" defTabSz="91440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/>
              <a:buNone/>
              <a:defRPr sz="2400" u="none" kern="1200" cap="none" spc="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2000" u="none" kern="1200" cap="none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800" u="none" kern="1200" cap="none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/>
              <a:buNone/>
              <a:defRPr sz="1600" u="none" kern="1200" cap="none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/>
              <a:buNone/>
              <a:defRPr sz="1600" u="none" kern="1200" cap="none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600" b="1">
                <a:solidFill>
                  <a:srgbClr val="05428E"/>
                </a:solidFill>
                <a:latin typeface="微软雅黑"/>
                <a:ea typeface="微软雅黑"/>
                <a:cs typeface="微软雅黑"/>
              </a:rPr>
              <a:t>作品阐述</a:t>
            </a:r>
            <a:endParaRPr sz="3600" b="1">
              <a:solidFill>
                <a:srgbClr val="0542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FFE0C2BA-4939-485C-A8EB-F69F3943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28412"/>
            <a:ext cx="1595220" cy="2401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90170" tIns="46990" rIns="90170" bIns="4699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buNone/>
              <a:defRPr sz="26000" b="1" u="none" cap="none" spc="300" baseline="0">
                <a:gradFill flip="none" rotWithShape="1">
                  <a:gsLst>
                    <a:gs pos="100000">
                      <a:schemeClr val="accent1"/>
                    </a:gs>
                    <a:gs pos="0">
                      <a:schemeClr val="accent2"/>
                    </a:gs>
                  </a:gsLst>
                  <a:lin ang="16200000" scaled="0"/>
                  <a:tileRect/>
                </a:gradFill>
                <a:latin typeface="Source Han Sans CN Heavy"/>
                <a:ea typeface="Source Han Sans CN Heavy"/>
                <a:cs typeface="Source Han Sans CN Heavy"/>
              </a:defRPr>
            </a:lvl1pPr>
          </a:lstStyle>
          <a:p xmlns:a="http://schemas.openxmlformats.org/drawingml/2006/main">
            <a:pPr algn="r" defTabSz="457200">
              <a:buNone/>
            </a:pPr>
            <a:r>
              <a:rPr sz="8000">
                <a:gradFill rotWithShape="1">
                  <a:gsLst>
                    <a:gs pos="100000">
                      <a:srgbClr val="207DDD"/>
                    </a:gs>
                    <a:gs pos="0">
                      <a:srgbClr val="1F50AD"/>
                    </a:gs>
                  </a:gsLst>
                  <a:lin ang="16200000" scaled="0"/>
                  <a:tileRect/>
                </a:gradFill>
                <a:latin typeface="微软雅黑"/>
                <a:ea typeface="微软雅黑"/>
                <a:cs typeface="微软雅黑"/>
              </a:rPr>
              <a:t>02</a:t>
            </a:r>
            <a:endParaRPr sz="8000">
              <a:gradFill flip="none" rotWithShape="1">
                <a:gsLst>
                  <a:gs pos="100000">
                    <a:srgbClr val="207DDD"/>
                  </a:gs>
                  <a:gs pos="0">
                    <a:srgbClr val="1F50AD"/>
                  </a:gs>
                </a:gsLst>
                <a:lin ang="16200000" scaled="0"/>
                <a:tileRect/>
              </a:gra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任意形状 15">
            <a:extLst xmlns:a="http://schemas.openxmlformats.org/drawingml/2006/main">
              <a:ext uri="{FF2B5EF4-FFF2-40B4-BE49-F238E27FC236}">
                <a16:creationId xmlns:a16="http://schemas.microsoft.com/office/drawing/2014/main" id="{9B124D72-18CA-44E8-9834-78976C80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0688" y="0"/>
            <a:ext cx="4214688" cy="6870988"/>
          </a:xfrm>
          <a:custGeom xmlns:a="http://schemas.openxmlformats.org/drawingml/2006/main">
            <a:gdLst>
              <a:gd name="connsiteX0" fmla="*/ 0 w 4214688"/>
              <a:gd name="connsiteY0" fmla="*/ 0 h 6870988"/>
              <a:gd name="connsiteX1" fmla="*/ 2330773 w 4214688"/>
              <a:gd name="connsiteY1" fmla="*/ 0 h 6870988"/>
              <a:gd name="connsiteX2" fmla="*/ 2422909 w 4214688"/>
              <a:gd name="connsiteY2" fmla="*/ 59067 h 6870988"/>
              <a:gd name="connsiteX3" fmla="*/ 4214688 w 4214688"/>
              <a:gd name="connsiteY3" fmla="*/ 3429000 h 6870988"/>
              <a:gd name="connsiteX4" fmla="*/ 2422909 w 4214688"/>
              <a:gd name="connsiteY4" fmla="*/ 6798933 h 6870988"/>
              <a:gd name="connsiteX5" fmla="*/ 2310514 w 4214688"/>
              <a:gd name="connsiteY5" fmla="*/ 6870988 h 6870988"/>
              <a:gd name="connsiteX6" fmla="*/ 0 w 4214688"/>
              <a:gd name="connsiteY6" fmla="*/ 6870988 h 6870988"/>
              <a:gd name="connsiteX7" fmla="*/ 0 w 4214688"/>
              <a:gd name="connsiteY7" fmla="*/ 0 h 6870988"/>
            </a:gdLst>
            <a:rect l="l" t="t" r="r" b="b"/>
            <a:pathLst>
              <a:path w="4214688" h="6870988">
                <a:moveTo>
                  <a:pt x="0" y="0"/>
                </a:moveTo>
                <a:lnTo>
                  <a:pt x="2330773" y="0"/>
                </a:lnTo>
                <a:lnTo>
                  <a:pt x="2422909" y="59067"/>
                </a:lnTo>
                <a:cubicBezTo>
                  <a:pt x="3503940" y="789398"/>
                  <a:pt x="4214688" y="2026197"/>
                  <a:pt x="4214688" y="3429000"/>
                </a:cubicBezTo>
                <a:cubicBezTo>
                  <a:pt x="4214688" y="4831803"/>
                  <a:pt x="3503940" y="6068603"/>
                  <a:pt x="2422909" y="6798933"/>
                </a:cubicBezTo>
                <a:lnTo>
                  <a:pt x="2310514" y="6870988"/>
                </a:lnTo>
                <a:lnTo>
                  <a:pt x="0" y="687098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e75956948bc043db"/>
            <a:srcRect l="0" t="0" r="0" b="0"/>
            <a:tile tx="1270000" ty="1270000" sx="100000" sy="100000" flip="none" algn="ctr"/>
          </a:blip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944BB79-4E61-4D74-8C37-3E2BA0BC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515100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3418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3418E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0382623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直线连接符 3">
            <a:extLst xmlns:a="http://schemas.openxmlformats.org/drawingml/2006/main">
              <a:ext uri="{FF2B5EF4-FFF2-40B4-BE49-F238E27FC236}">
                <a16:creationId xmlns:a16="http://schemas.microsoft.com/office/drawing/2014/main" id="{F63D7460-D8CE-4FE6-A020-AEB81026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900" y="1057450"/>
            <a:ext cx="11488967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1">
                <a:alpha val="74042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16ACE10D-4096-462E-AB83-687999FA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408" y="534230"/>
            <a:ext cx="952527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SzPct val="90000"/>
              <a:buNone/>
            </a:pPr>
            <a:r>
              <a:rPr sz="2800" b="1" spc="12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贯穿一次教学活动</a:t>
            </a:r>
            <a:endParaRPr sz="2800" b="1" spc="120"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B3C39E6-363E-4171-97B0-2A7451A0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" y="534231"/>
            <a:ext cx="457200" cy="523220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箭头: V 形 35">
            <a:extLst xmlns:a="http://schemas.openxmlformats.org/drawingml/2006/main">
              <a:ext uri="{FF2B5EF4-FFF2-40B4-BE49-F238E27FC236}">
                <a16:creationId xmlns:a16="http://schemas.microsoft.com/office/drawing/2014/main" id="{E6ACA145-8C05-4F32-86EC-AF8E6B6E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430" y="2152847"/>
            <a:ext cx="2981402" cy="870857"/>
          </a:xfrm>
          <a:prstGeom xmlns:a="http://schemas.openxmlformats.org/drawingml/2006/main" prst="chevron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" name="箭头: V 形 39">
            <a:extLst xmlns:a="http://schemas.openxmlformats.org/drawingml/2006/main">
              <a:ext uri="{FF2B5EF4-FFF2-40B4-BE49-F238E27FC236}">
                <a16:creationId xmlns:a16="http://schemas.microsoft.com/office/drawing/2014/main" id="{65198304-909D-4932-901C-31D98729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010" y="2152847"/>
            <a:ext cx="2981402" cy="870857"/>
          </a:xfrm>
          <a:prstGeom xmlns:a="http://schemas.openxmlformats.org/drawingml/2006/main" prst="chevron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箭头: V 形 40">
            <a:extLst xmlns:a="http://schemas.openxmlformats.org/drawingml/2006/main">
              <a:ext uri="{FF2B5EF4-FFF2-40B4-BE49-F238E27FC236}">
                <a16:creationId xmlns:a16="http://schemas.microsoft.com/office/drawing/2014/main" id="{D82ABA70-40AD-4761-BBC7-35C3E2BF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590" y="2152847"/>
            <a:ext cx="2981402" cy="870857"/>
          </a:xfrm>
          <a:prstGeom xmlns:a="http://schemas.openxmlformats.org/drawingml/2006/main" prst="chevron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0" name="箭头: V 形 41">
            <a:extLst xmlns:a="http://schemas.openxmlformats.org/drawingml/2006/main">
              <a:ext uri="{FF2B5EF4-FFF2-40B4-BE49-F238E27FC236}">
                <a16:creationId xmlns:a16="http://schemas.microsoft.com/office/drawing/2014/main" id="{B8B1D3F4-82AA-4207-9C62-B50AE75A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169" y="2152847"/>
            <a:ext cx="2981402" cy="870857"/>
          </a:xfrm>
          <a:prstGeom xmlns:a="http://schemas.openxmlformats.org/drawingml/2006/main" prst="chevron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BAA93AAF-2FE1-4EBD-A453-F096E6BC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59" y="2295887"/>
            <a:ext cx="2481943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 spc="140">
                <a:solidFill>
                  <a:schemeClr val="bg1"/>
                </a:solidFill>
                <a:latin typeface="Arial"/>
                <a:ea typeface="Arial"/>
                <a:cs typeface="Arial"/>
              </a:rPr>
              <a:t>课前</a:t>
            </a:r>
            <a:endParaRPr sz="1600" b="1" spc="14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</a:pPr>
            <a:r>
              <a:rPr sz="1600" b="1" spc="140">
                <a:solidFill>
                  <a:schemeClr val="bg1"/>
                </a:solidFill>
                <a:latin typeface="Arial"/>
                <a:ea typeface="Arial"/>
                <a:cs typeface="Arial"/>
              </a:rPr>
              <a:t>教师设计</a:t>
            </a:r>
            <a:endParaRPr sz="1600" b="1">
              <a:solidFill>
                <a:schemeClr val="bg1"/>
              </a:solidFill>
            </a:endParaRP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D53BAFA7-2FD3-4C57-98AA-43BF586E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1075" y="2295887"/>
            <a:ext cx="2481943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 spc="140">
                <a:solidFill>
                  <a:schemeClr val="bg1"/>
                </a:solidFill>
                <a:latin typeface="Arial"/>
                <a:ea typeface="Arial"/>
                <a:cs typeface="Arial"/>
              </a:rPr>
              <a:t>课中</a:t>
            </a:r>
            <a:endParaRPr sz="1600" b="1" spc="14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</a:pPr>
            <a:r>
              <a:rPr sz="1600" b="1" spc="140">
                <a:solidFill>
                  <a:schemeClr val="bg1"/>
                </a:solidFill>
                <a:latin typeface="Arial"/>
                <a:ea typeface="Arial"/>
                <a:cs typeface="Arial"/>
              </a:rPr>
              <a:t>学生操作</a:t>
            </a:r>
            <a:endParaRPr sz="1600" b="1">
              <a:solidFill>
                <a:schemeClr val="bg1"/>
              </a:solidFill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216152DF-0B0B-4A19-B785-79D71D4B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047" y="2295887"/>
            <a:ext cx="2481943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 spc="140">
                <a:solidFill>
                  <a:schemeClr val="bg1"/>
                </a:solidFill>
                <a:latin typeface="Arial"/>
                <a:ea typeface="Arial"/>
                <a:cs typeface="Arial"/>
              </a:rPr>
              <a:t>课后</a:t>
            </a:r>
            <a:endParaRPr sz="1600" b="1" spc="14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</a:pPr>
            <a:r>
              <a:rPr sz="1600" b="1" spc="140">
                <a:solidFill>
                  <a:schemeClr val="bg1"/>
                </a:solidFill>
                <a:latin typeface="Arial"/>
                <a:ea typeface="Arial"/>
                <a:cs typeface="Arial"/>
              </a:rPr>
              <a:t>证据回看</a:t>
            </a:r>
            <a:endParaRPr sz="1600" b="1">
              <a:solidFill>
                <a:schemeClr val="bg1"/>
              </a:solidFill>
            </a:endParaR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F791FABC-EA57-469B-B09A-955B04C1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1992" y="2295887"/>
            <a:ext cx="2481943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 spc="140">
                <a:solidFill>
                  <a:schemeClr val="bg1"/>
                </a:solidFill>
                <a:latin typeface="Arial"/>
                <a:ea typeface="Arial"/>
                <a:cs typeface="Arial"/>
              </a:rPr>
              <a:t>下一次课</a:t>
            </a:r>
            <a:endParaRPr sz="1600" b="1" spc="14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</a:pPr>
            <a:r>
              <a:rPr sz="1600" b="1" spc="140">
                <a:solidFill>
                  <a:schemeClr val="bg1"/>
                </a:solidFill>
                <a:latin typeface="Arial"/>
                <a:ea typeface="Arial"/>
                <a:cs typeface="Arial"/>
              </a:rPr>
              <a:t>审核与发布</a:t>
            </a:r>
            <a:endParaRPr sz="1600" b="1">
              <a:solidFill>
                <a:schemeClr val="bg1"/>
              </a:solidFill>
            </a:endParaRPr>
          </a:p>
        </p:txBody>
      </p:sp>
      <p:sp>
        <p:nvSpPr>
          <p:cNvPr id="18" name="直接连接符 52">
            <a:extLst xmlns:a="http://schemas.openxmlformats.org/drawingml/2006/main">
              <a:ext uri="{FF2B5EF4-FFF2-40B4-BE49-F238E27FC236}">
                <a16:creationId xmlns:a16="http://schemas.microsoft.com/office/drawing/2014/main" id="{627A61D5-C39B-4AA1-8717-80ED8249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028" y="3023704"/>
            <a:ext cx="0" cy="827314"/>
          </a:xfrm>
          <a:prstGeom xmlns:a="http://schemas.openxmlformats.org/drawingml/2006/main" prst="line">
            <a:avLst/>
          </a:prstGeom>
          <a:ln xmlns:a="http://schemas.openxmlformats.org/drawingml/2006/main" w="12700"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" name="直接连接符 54">
            <a:extLst xmlns:a="http://schemas.openxmlformats.org/drawingml/2006/main">
              <a:ext uri="{FF2B5EF4-FFF2-40B4-BE49-F238E27FC236}">
                <a16:creationId xmlns:a16="http://schemas.microsoft.com/office/drawing/2014/main" id="{BD8CB110-BF67-4C4F-9E51-7A052961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2952" y="3023704"/>
            <a:ext cx="0" cy="827314"/>
          </a:xfrm>
          <a:prstGeom xmlns:a="http://schemas.openxmlformats.org/drawingml/2006/main" prst="line">
            <a:avLst/>
          </a:prstGeom>
          <a:ln xmlns:a="http://schemas.openxmlformats.org/drawingml/2006/main" w="12700"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直接连接符 55">
            <a:extLst xmlns:a="http://schemas.openxmlformats.org/drawingml/2006/main">
              <a:ext uri="{FF2B5EF4-FFF2-40B4-BE49-F238E27FC236}">
                <a16:creationId xmlns:a16="http://schemas.microsoft.com/office/drawing/2014/main" id="{E77D08D0-A4A3-42CC-8909-56DA02A1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876" y="3023704"/>
            <a:ext cx="0" cy="827314"/>
          </a:xfrm>
          <a:prstGeom xmlns:a="http://schemas.openxmlformats.org/drawingml/2006/main" prst="line">
            <a:avLst/>
          </a:prstGeom>
          <a:ln xmlns:a="http://schemas.openxmlformats.org/drawingml/2006/main" w="12700"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直接连接符 56">
            <a:extLst xmlns:a="http://schemas.openxmlformats.org/drawingml/2006/main">
              <a:ext uri="{FF2B5EF4-FFF2-40B4-BE49-F238E27FC236}">
                <a16:creationId xmlns:a16="http://schemas.microsoft.com/office/drawing/2014/main" id="{082909D6-BC95-4466-87B0-1AA805C1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6800" y="3023704"/>
            <a:ext cx="0" cy="827314"/>
          </a:xfrm>
          <a:prstGeom xmlns:a="http://schemas.openxmlformats.org/drawingml/2006/main" prst="line">
            <a:avLst/>
          </a:prstGeom>
          <a:ln xmlns:a="http://schemas.openxmlformats.org/drawingml/2006/main" w="12700"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1DCE1E4E-90FF-4E87-81D1-2E1B1DCA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029" y="3986516"/>
            <a:ext cx="2031998" cy="16349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6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6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设置学习目标</a:t>
            </a:r>
            <a:endParaRPr sz="17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6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6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编排任务节点</a:t>
            </a:r>
            <a:endParaRPr sz="17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6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6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生成建议草稿</a:t>
            </a:r>
            <a:endParaRPr sz="17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6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6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教师审核内容</a:t>
            </a:r>
            <a:endParaRPr sz="17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D7DA7AF2-5E7F-465F-9B77-6B674F0D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953" y="3986516"/>
            <a:ext cx="2031998" cy="1956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6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6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连接与观察信号</a:t>
            </a:r>
            <a:endParaRPr sz="17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6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6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提交实际结果</a:t>
            </a:r>
            <a:endParaRPr sz="17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6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6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服务端确定性检测</a:t>
            </a:r>
            <a:endParaRPr sz="17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6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6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教师控制课堂节奏</a:t>
            </a:r>
            <a:endParaRPr sz="17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6C690DD3-C6ED-41DD-93E1-43A57643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8877" y="3986516"/>
            <a:ext cx="2031998" cy="16349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6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6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回看失败反例</a:t>
            </a:r>
            <a:endParaRPr sz="17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6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6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按需使用提示</a:t>
            </a:r>
            <a:endParaRPr sz="17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6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6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完成补学与复测</a:t>
            </a:r>
            <a:endParaRPr sz="17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6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6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导出过程记录</a:t>
            </a:r>
            <a:endParaRPr sz="17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6934D2AC-E263-460B-AAD8-1F5C02F5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0801" y="3986516"/>
            <a:ext cx="2031998" cy="1956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6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6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查看每条建议依据</a:t>
            </a:r>
            <a:endParaRPr sz="17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6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6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采纳并修改任务</a:t>
            </a:r>
            <a:endParaRPr sz="17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6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6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保存调整与版本</a:t>
            </a:r>
            <a:endParaRPr sz="17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6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6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定向发布后续任务</a:t>
            </a:r>
            <a:endParaRPr sz="17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scope-caption">
            <a:extLst xmlns:a="http://schemas.openxmlformats.org/drawingml/2006/main">
              <a:ext uri="{FF2B5EF4-FFF2-40B4-BE49-F238E27FC236}">
                <a16:creationId xmlns:a16="http://schemas.microsoft.com/office/drawing/2014/main" id="{75D44A73-0B81-487C-AF4A-D9FC64F4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课堂状态：草稿 → 开始 → 暂停／恢复 → 结束结算；最终发布由教师决定。</a:t>
            </a:r>
          </a:p>
        </p:txBody>
      </p:sp>
      <p:sp>
        <p:nvSpPr>
          <p:cNvPr id="2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F4483FB-C899-42A4-AE6D-D5DBEB64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515100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3418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3418E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9366794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直线连接符 1">
            <a:extLst xmlns:a="http://schemas.openxmlformats.org/drawingml/2006/main">
              <a:ext uri="{FF2B5EF4-FFF2-40B4-BE49-F238E27FC236}">
                <a16:creationId xmlns:a16="http://schemas.microsoft.com/office/drawing/2014/main" id="{A8B03A81-EACF-4120-9774-1A00EE72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900" y="1057450"/>
            <a:ext cx="11488967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1">
                <a:alpha val="74042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EE0F768F-4158-4A5E-9BE8-9380A19F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408" y="534230"/>
            <a:ext cx="952527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SzPct val="90000"/>
              <a:buNone/>
            </a:pPr>
            <a:r>
              <a:rPr sz="2800" b="1" spc="12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师生机协同的五个动作</a:t>
            </a:r>
            <a:endParaRPr sz="2800" b="1" spc="120"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54F2322-4B9D-40DB-A5E1-B3DFAA3D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" y="534231"/>
            <a:ext cx="457200" cy="523220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箭头: 右 1">
            <a:extLst xmlns:a="http://schemas.openxmlformats.org/drawingml/2006/main">
              <a:ext uri="{FF2B5EF4-FFF2-40B4-BE49-F238E27FC236}">
                <a16:creationId xmlns:a16="http://schemas.microsoft.com/office/drawing/2014/main" id="{837F64D9-3242-4577-8584-E61EE906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575" y="3681363"/>
            <a:ext cx="10864850" cy="266700"/>
          </a:xfrm>
          <a:prstGeom xmlns:a="http://schemas.openxmlformats.org/drawingml/2006/main" prst="rightArrow">
            <a:avLst>
              <a:gd name="adj1" fmla="val 30952"/>
              <a:gd name="adj2" fmla="val 77207"/>
            </a:avLst>
          </a:prstGeom>
          <a:solidFill xmlns:a="http://schemas.openxmlformats.org/drawingml/2006/main">
            <a:schemeClr val="accent1">
              <a:alpha val="4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椭圆 12">
            <a:extLst xmlns:a="http://schemas.openxmlformats.org/drawingml/2006/main">
              <a:ext uri="{FF2B5EF4-FFF2-40B4-BE49-F238E27FC236}">
                <a16:creationId xmlns:a16="http://schemas.microsoft.com/office/drawing/2014/main" id="{5BF74E0C-C02C-4E2A-98AD-F25DDB8D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850" y="3113038"/>
            <a:ext cx="1403350" cy="1403350"/>
          </a:xfrm>
          <a:prstGeom xmlns:a="http://schemas.openxmlformats.org/drawingml/2006/main" prst="ellipse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6A253389-7A80-4F48-BE15-CCB526B7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861" y="3583879"/>
            <a:ext cx="1247328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spc="140">
                <a:solidFill>
                  <a:schemeClr val="bg1"/>
                </a:solidFill>
                <a:latin typeface="Arial"/>
                <a:ea typeface="Arial"/>
                <a:cs typeface="Arial"/>
              </a:rPr>
              <a:t>教师定标</a:t>
            </a:r>
            <a:endParaRPr sz="1200" b="1" spc="14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椭圆 26">
            <a:extLst xmlns:a="http://schemas.openxmlformats.org/drawingml/2006/main">
              <a:ext uri="{FF2B5EF4-FFF2-40B4-BE49-F238E27FC236}">
                <a16:creationId xmlns:a16="http://schemas.microsoft.com/office/drawing/2014/main" id="{C114EF96-16AC-46CF-8D65-B63F9E15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2296" y="3113038"/>
            <a:ext cx="1403350" cy="1403350"/>
          </a:xfrm>
          <a:prstGeom xmlns:a="http://schemas.openxmlformats.org/drawingml/2006/main" prst="ellipse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椭圆 27">
            <a:extLst xmlns:a="http://schemas.openxmlformats.org/drawingml/2006/main">
              <a:ext uri="{FF2B5EF4-FFF2-40B4-BE49-F238E27FC236}">
                <a16:creationId xmlns:a16="http://schemas.microsoft.com/office/drawing/2014/main" id="{4677965A-3AA9-4F7A-A524-553B6743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4742" y="3113038"/>
            <a:ext cx="1403350" cy="1403350"/>
          </a:xfrm>
          <a:prstGeom xmlns:a="http://schemas.openxmlformats.org/drawingml/2006/main" prst="ellipse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椭圆 28">
            <a:extLst xmlns:a="http://schemas.openxmlformats.org/drawingml/2006/main">
              <a:ext uri="{FF2B5EF4-FFF2-40B4-BE49-F238E27FC236}">
                <a16:creationId xmlns:a16="http://schemas.microsoft.com/office/drawing/2014/main" id="{30B24B63-954D-493A-83BD-781B422B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188" y="3113038"/>
            <a:ext cx="1403350" cy="1403350"/>
          </a:xfrm>
          <a:prstGeom xmlns:a="http://schemas.openxmlformats.org/drawingml/2006/main" prst="ellipse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椭圆 29">
            <a:extLst xmlns:a="http://schemas.openxmlformats.org/drawingml/2006/main">
              <a:ext uri="{FF2B5EF4-FFF2-40B4-BE49-F238E27FC236}">
                <a16:creationId xmlns:a16="http://schemas.microsoft.com/office/drawing/2014/main" id="{A3BF3FF9-EC07-4538-8DB0-88873B35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9635" y="3113038"/>
            <a:ext cx="1403350" cy="1403350"/>
          </a:xfrm>
          <a:prstGeom xmlns:a="http://schemas.openxmlformats.org/drawingml/2006/main" prst="ellipse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cxnSp>
        <p:nvCxnSpPr>
          <p:cNvPr id="57" name="直接连接符 49"/>
          <p:cNvCxnSpPr>
            <a:endCxn xmlns:a="http://schemas.openxmlformats.org/drawingml/2006/main" id="32" idx="0"/>
          </p:cNvCxnSpPr>
          <p:nvPr/>
        </p:nvCxnSpPr>
        <p:spPr>
          <a:xfrm xmlns:a="http://schemas.openxmlformats.org/drawingml/2006/main" flipH="1">
            <a:off x="2041525" y="4516388"/>
            <a:ext cx="6803" cy="542925"/>
          </a:xfrm>
          <a:prstGeom xmlns:a="http://schemas.openxmlformats.org/drawingml/2006/main" prst="line">
            <a:avLst/>
          </a:prstGeom>
          <a:ln xmlns:a="http://schemas.openxmlformats.org/drawingml/2006/main" w="19050"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F8574E88-6EB8-43C2-BF88-14E3258E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54" y="5059313"/>
            <a:ext cx="2561542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师：确定知识目标</a:t>
            </a:r>
            <a:endParaRPr sz="14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设置任务与完成条件</a:t>
            </a:r>
            <a:endParaRPr sz="14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明确哪些证据需要采集</a:t>
            </a:r>
            <a:endParaRPr sz="14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直接连接符 54">
            <a:extLst xmlns:a="http://schemas.openxmlformats.org/drawingml/2006/main">
              <a:ext uri="{FF2B5EF4-FFF2-40B4-BE49-F238E27FC236}">
                <a16:creationId xmlns:a16="http://schemas.microsoft.com/office/drawing/2014/main" id="{E0AF7FF0-D0B0-47C7-9132-303CA231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023971" y="2557413"/>
            <a:ext cx="6803" cy="542925"/>
          </a:xfrm>
          <a:prstGeom xmlns:a="http://schemas.openxmlformats.org/drawingml/2006/main" prst="line">
            <a:avLst/>
          </a:prstGeom>
          <a:ln xmlns:a="http://schemas.openxmlformats.org/drawingml/2006/main" w="19050"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直接连接符 55">
            <a:extLst xmlns:a="http://schemas.openxmlformats.org/drawingml/2006/main">
              <a:ext uri="{FF2B5EF4-FFF2-40B4-BE49-F238E27FC236}">
                <a16:creationId xmlns:a16="http://schemas.microsoft.com/office/drawing/2014/main" id="{7E04C3F1-0275-4FD4-83E3-85447FE8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93038" y="4516388"/>
            <a:ext cx="6803" cy="542925"/>
          </a:xfrm>
          <a:prstGeom xmlns:a="http://schemas.openxmlformats.org/drawingml/2006/main" prst="line">
            <a:avLst/>
          </a:prstGeom>
          <a:ln xmlns:a="http://schemas.openxmlformats.org/drawingml/2006/main" w="19050"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5" name="直接连接符 56">
            <a:extLst xmlns:a="http://schemas.openxmlformats.org/drawingml/2006/main">
              <a:ext uri="{FF2B5EF4-FFF2-40B4-BE49-F238E27FC236}">
                <a16:creationId xmlns:a16="http://schemas.microsoft.com/office/drawing/2014/main" id="{A2F8F9DE-F7D2-4081-9375-43053811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975484" y="2557413"/>
            <a:ext cx="6803" cy="542925"/>
          </a:xfrm>
          <a:prstGeom xmlns:a="http://schemas.openxmlformats.org/drawingml/2006/main" prst="line">
            <a:avLst/>
          </a:prstGeom>
          <a:ln xmlns:a="http://schemas.openxmlformats.org/drawingml/2006/main" w="19050"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6" name="直接连接符 57">
            <a:extLst xmlns:a="http://schemas.openxmlformats.org/drawingml/2006/main">
              <a:ext uri="{FF2B5EF4-FFF2-40B4-BE49-F238E27FC236}">
                <a16:creationId xmlns:a16="http://schemas.microsoft.com/office/drawing/2014/main" id="{7465A3C4-69FC-4F93-8A0F-A93CFA6F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989403" y="4516388"/>
            <a:ext cx="6803" cy="542925"/>
          </a:xfrm>
          <a:prstGeom xmlns:a="http://schemas.openxmlformats.org/drawingml/2006/main" prst="line">
            <a:avLst/>
          </a:prstGeom>
          <a:ln xmlns:a="http://schemas.openxmlformats.org/drawingml/2006/main" w="19050"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7" name="文本框 36">
            <a:extLst xmlns:a="http://schemas.openxmlformats.org/drawingml/2006/main">
              <a:ext uri="{FF2B5EF4-FFF2-40B4-BE49-F238E27FC236}">
                <a16:creationId xmlns:a16="http://schemas.microsoft.com/office/drawing/2014/main" id="{EADB11D2-E470-4CD1-838E-832EFBF7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1591680"/>
            <a:ext cx="2561542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生：连接、运行与提交</a:t>
            </a:r>
            <a:endParaRPr sz="14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记录实际输入与输出</a:t>
            </a:r>
            <a:endParaRPr sz="14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学习活动由学生完成</a:t>
            </a:r>
            <a:endParaRPr sz="14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AB5FA2C3-991C-48FF-BFD0-E29D8646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3829" y="5059313"/>
            <a:ext cx="2561542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机：输出检测事实</a:t>
            </a:r>
            <a:endParaRPr sz="14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给出失败反例和分级提示</a:t>
            </a:r>
            <a:endParaRPr sz="14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生成建议不直接改变成绩</a:t>
            </a:r>
            <a:endParaRPr sz="14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9533F2CA-316E-4708-BCCB-99E715AC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8975" y="1591680"/>
            <a:ext cx="2561542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师：核查建议与证据</a:t>
            </a:r>
            <a:endParaRPr sz="14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改写教学安排、选定学生</a:t>
            </a:r>
            <a:endParaRPr sz="14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保存并发布后续任务</a:t>
            </a:r>
            <a:endParaRPr sz="14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4B279481-EC08-4FF9-8EC0-46A6BD94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4664" y="5059313"/>
            <a:ext cx="2561542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生：修正后再次验证</a:t>
            </a:r>
            <a:endParaRPr sz="14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完成对应补练与复测</a:t>
            </a:r>
            <a:endParaRPr sz="14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教师回看过程与变化</a:t>
            </a:r>
            <a:endParaRPr sz="14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F3B3816A-7D90-42EC-A5FC-5CDFB5EE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5681" y="3583879"/>
            <a:ext cx="1247328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spc="140">
                <a:solidFill>
                  <a:schemeClr val="bg1"/>
                </a:solidFill>
                <a:latin typeface="Arial"/>
                <a:ea typeface="Arial"/>
                <a:cs typeface="Arial"/>
              </a:rPr>
              <a:t>学生操作</a:t>
            </a:r>
            <a:endParaRPr sz="1200" b="1" spc="14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5F4AC43B-714C-4473-A752-02AFB39B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3501" y="3583879"/>
            <a:ext cx="1247328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spc="140">
                <a:solidFill>
                  <a:schemeClr val="bg1"/>
                </a:solidFill>
                <a:latin typeface="Arial"/>
                <a:ea typeface="Arial"/>
                <a:cs typeface="Arial"/>
              </a:rPr>
              <a:t>机器诊断</a:t>
            </a:r>
            <a:endParaRPr sz="1200" b="1" spc="14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6E149862-F09A-42D2-A325-54D81535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321" y="3583879"/>
            <a:ext cx="1247328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spc="140">
                <a:solidFill>
                  <a:schemeClr val="bg1"/>
                </a:solidFill>
                <a:latin typeface="Arial"/>
                <a:ea typeface="Arial"/>
                <a:cs typeface="Arial"/>
              </a:rPr>
              <a:t>教师干预</a:t>
            </a:r>
            <a:endParaRPr sz="1200" b="1" spc="14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5849FC00-8233-469E-93ED-8EDCDF04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140" y="3583879"/>
            <a:ext cx="1247328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spc="140">
                <a:solidFill>
                  <a:schemeClr val="bg1"/>
                </a:solidFill>
                <a:latin typeface="Arial"/>
                <a:ea typeface="Arial"/>
                <a:cs typeface="Arial"/>
              </a:rPr>
              <a:t>学生复测</a:t>
            </a:r>
            <a:endParaRPr sz="1200" b="1" spc="14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cope-caption">
            <a:extLst xmlns:a="http://schemas.openxmlformats.org/drawingml/2006/main">
              <a:ext uri="{FF2B5EF4-FFF2-40B4-BE49-F238E27FC236}">
                <a16:creationId xmlns:a16="http://schemas.microsoft.com/office/drawing/2014/main" id="{0A61ADA7-64E7-4180-BFAC-6385CA3E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师决定目标和干预，生完成主动建构，机提供检测与建议；权限与过程记录落实职责边界。</a:t>
            </a:r>
          </a:p>
        </p:txBody>
      </p:sp>
      <p:sp>
        <p:nvSpPr>
          <p:cNvPr id="4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15DD6E8-63B4-42D5-8966-3291D0CC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515100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3418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3418E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6145174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直线连接符 3">
            <a:extLst xmlns:a="http://schemas.openxmlformats.org/drawingml/2006/main">
              <a:ext uri="{FF2B5EF4-FFF2-40B4-BE49-F238E27FC236}">
                <a16:creationId xmlns:a16="http://schemas.microsoft.com/office/drawing/2014/main" id="{665F58A5-2B11-4182-8BA6-03D5AA9D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900" y="1057450"/>
            <a:ext cx="11488967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1">
                <a:alpha val="74042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B9E64279-BBC4-4FCD-B3E6-496E09F2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408" y="534230"/>
            <a:ext cx="952527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SzPct val="90000"/>
              <a:buNone/>
            </a:pPr>
            <a:r>
              <a:rPr sz="2800" b="1" spc="12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把协同落实为操作与边界</a:t>
            </a:r>
            <a:endParaRPr sz="2800" b="1" spc="120"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046E98D-79F3-4F14-A0FD-D91AD7C0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" y="534231"/>
            <a:ext cx="457200" cy="523220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右箭头 6">
            <a:extLst xmlns:a="http://schemas.openxmlformats.org/drawingml/2006/main">
              <a:ext uri="{FF2B5EF4-FFF2-40B4-BE49-F238E27FC236}">
                <a16:creationId xmlns:a16="http://schemas.microsoft.com/office/drawing/2014/main" id="{A193EFDB-A04A-4B99-A523-2EEEF47B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4993555" y="-949882"/>
            <a:ext cx="2073141" cy="9428148"/>
          </a:xfrm>
          <a:prstGeom xmlns:a="http://schemas.openxmlformats.org/drawingml/2006/main" prst="rightArrow">
            <a:avLst>
              <a:gd name="adj1" fmla="val 51259"/>
              <a:gd name="adj2" fmla="val 53994"/>
            </a:avLst>
          </a:prstGeom>
          <a:gradFill xmlns:a="http://schemas.openxmlformats.org/drawingml/2006/main" rotWithShape="0">
            <a:gsLst>
              <a:gs pos="4000">
                <a:schemeClr val="accent1"/>
              </a:gs>
              <a:gs pos="48000">
                <a:schemeClr val="accent1">
                  <a:alpha val="54537"/>
                </a:schemeClr>
              </a:gs>
              <a:gs pos="99000">
                <a:schemeClr val="accent1">
                  <a:alpha val="0"/>
                </a:schemeClr>
              </a:gs>
            </a:gsLst>
            <a:lin ang="54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椭圆 21">
            <a:extLst xmlns:a="http://schemas.openxmlformats.org/drawingml/2006/main">
              <a:ext uri="{FF2B5EF4-FFF2-40B4-BE49-F238E27FC236}">
                <a16:creationId xmlns:a16="http://schemas.microsoft.com/office/drawing/2014/main" id="{FD327A0F-EF42-4F78-B842-75BF619B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07855" y="3996459"/>
            <a:ext cx="1804091" cy="1804091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5875">
            <a:solidFill>
              <a:schemeClr val="accent1">
                <a:alpha val="61894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11496E3B-C29E-44BC-8731-229AAB41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61819" y="4453007"/>
            <a:ext cx="1496164" cy="9532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SzPct val="80000"/>
              <a:buNone/>
            </a:pPr>
            <a:r>
              <a:rPr sz="1600" spc="14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实际反例</a:t>
            </a:r>
            <a:endParaRPr sz="16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20000"/>
              </a:lnSpc>
              <a:buSzPct val="80000"/>
              <a:buNone/>
            </a:pPr>
            <a:r>
              <a:rPr sz="1600" spc="14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定位错误</a:t>
            </a:r>
            <a:endParaRPr sz="16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椭圆 19">
            <a:extLst xmlns:a="http://schemas.openxmlformats.org/drawingml/2006/main">
              <a:ext uri="{FF2B5EF4-FFF2-40B4-BE49-F238E27FC236}">
                <a16:creationId xmlns:a16="http://schemas.microsoft.com/office/drawing/2014/main" id="{629F61F7-0AEE-4723-8536-9E0329CB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5255" y="3996459"/>
            <a:ext cx="1804091" cy="1804091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5875">
            <a:solidFill>
              <a:schemeClr val="accent1">
                <a:alpha val="61894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416B831C-CE7A-4D28-908A-519B1DCB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19219" y="4453007"/>
            <a:ext cx="1496164" cy="9532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SzPct val="80000"/>
              <a:buNone/>
            </a:pPr>
            <a:r>
              <a:rPr sz="1600" spc="14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分级提示</a:t>
            </a:r>
            <a:endParaRPr sz="16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20000"/>
              </a:lnSpc>
              <a:buSzPct val="80000"/>
              <a:buNone/>
            </a:pPr>
            <a:r>
              <a:rPr sz="1600" spc="14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支持修正</a:t>
            </a:r>
            <a:endParaRPr sz="16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椭圆 17">
            <a:extLst xmlns:a="http://schemas.openxmlformats.org/drawingml/2006/main">
              <a:ext uri="{FF2B5EF4-FFF2-40B4-BE49-F238E27FC236}">
                <a16:creationId xmlns:a16="http://schemas.microsoft.com/office/drawing/2014/main" id="{01B2F3A1-CB63-40A1-92B6-2E92FCEF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22655" y="3996459"/>
            <a:ext cx="1804091" cy="1804091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5875">
            <a:solidFill>
              <a:schemeClr val="accent1">
                <a:alpha val="61894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1B3AEA85-F443-4505-9B41-DC443A51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76619" y="4453007"/>
            <a:ext cx="1496164" cy="9532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SzPct val="80000"/>
              <a:buNone/>
            </a:pPr>
            <a:r>
              <a:rPr sz="1600" spc="14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采纳修改</a:t>
            </a:r>
            <a:endParaRPr sz="16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20000"/>
              </a:lnSpc>
              <a:buSzPct val="80000"/>
              <a:buNone/>
            </a:pPr>
            <a:r>
              <a:rPr sz="1600" spc="14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生成任务</a:t>
            </a:r>
            <a:endParaRPr sz="16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椭圆 15">
            <a:extLst xmlns:a="http://schemas.openxmlformats.org/drawingml/2006/main">
              <a:ext uri="{FF2B5EF4-FFF2-40B4-BE49-F238E27FC236}">
                <a16:creationId xmlns:a16="http://schemas.microsoft.com/office/drawing/2014/main" id="{15C6708A-3E0A-4B7F-BA5D-62CD9EF8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80055" y="3996459"/>
            <a:ext cx="1804091" cy="1804091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5875">
            <a:solidFill>
              <a:schemeClr val="accent1">
                <a:alpha val="61894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B0128724-7E42-406E-9EBE-7095BB72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34019" y="4453007"/>
            <a:ext cx="1496164" cy="9532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SzPct val="80000"/>
              <a:buNone/>
            </a:pPr>
            <a:r>
              <a:rPr sz="1600" spc="14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版本关联</a:t>
            </a:r>
            <a:endParaRPr sz="16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20000"/>
              </a:lnSpc>
              <a:buSzPct val="80000"/>
              <a:buNone/>
            </a:pPr>
            <a:r>
              <a:rPr sz="1600" spc="14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回看过程</a:t>
            </a:r>
            <a:endParaRPr sz="16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圆角矩形 23">
            <a:extLst xmlns:a="http://schemas.openxmlformats.org/drawingml/2006/main">
              <a:ext uri="{FF2B5EF4-FFF2-40B4-BE49-F238E27FC236}">
                <a16:creationId xmlns:a16="http://schemas.microsoft.com/office/drawing/2014/main" id="{2088564B-EF51-49B0-8243-1BE7B3CC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5326" y="1789659"/>
            <a:ext cx="8063345" cy="713834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5875">
            <a:solidFill>
              <a:schemeClr val="accent1">
                <a:alpha val="6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4B732C93-4AD7-4F3B-AF6E-B5486B10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2014" y="1864159"/>
            <a:ext cx="73499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SzPct val="80000"/>
              <a:buNone/>
            </a:pPr>
            <a:r>
              <a:rPr sz="2600" spc="14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建议有依据，行动有任务，过程可回看</a:t>
            </a:r>
            <a:endParaRPr sz="26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scope-caption">
            <a:extLst xmlns:a="http://schemas.openxmlformats.org/drawingml/2006/main">
              <a:ext uri="{FF2B5EF4-FFF2-40B4-BE49-F238E27FC236}">
                <a16:creationId xmlns:a16="http://schemas.microsoft.com/office/drawing/2014/main" id="{BE66B5A5-9901-4F45-9726-0C4C6A64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概览数据不足时提示继续采集；引用合法仍需教师核查建议是否有依据。</a:t>
            </a:r>
          </a:p>
        </p:txBody>
      </p:sp>
      <p:sp>
        <p:nvSpPr>
          <p:cNvPr id="2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8BED76D-C868-433A-8B08-01241970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515100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3418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3418E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9115283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25694B99-67E4-4697-8346-F8DBFCEF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1627" y="3842828"/>
            <a:ext cx="3535572" cy="4571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BD2F2">
              <a:alpha val="42000"/>
            </a:srgb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Source Han Sans CN Regular"/>
              <a:ea typeface="Source Han Sans CN Regular"/>
              <a:cs typeface="Source Han Sans CN Regular"/>
            </a:endParaRPr>
          </a:p>
        </p:txBody>
      </p:sp>
      <p:sp>
        <p:nvSpPr>
          <p:cNvPr id="3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54B48F37-F853-417D-9E6F-47553C50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626" y="3842652"/>
            <a:ext cx="536145" cy="45719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100000">
                <a:srgbClr val="207DDD"/>
              </a:gs>
              <a:gs pos="0">
                <a:srgbClr val="1F50AD"/>
              </a:gs>
            </a:gsLst>
            <a:lin ang="16200000" scaled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gradFill>
                <a:gsLst>
                  <a:gs pos="100000">
                    <a:srgbClr val="1B999B"/>
                  </a:gs>
                  <a:gs pos="0">
                    <a:srgbClr val="164928"/>
                  </a:gs>
                </a:gsLst>
                <a:lin ang="0" scaled="1"/>
              </a:gradFill>
              <a:latin typeface="Source Han Sans CN Regular"/>
              <a:ea typeface="Source Han Sans CN Regular"/>
              <a:cs typeface="Source Han Sans CN Regular"/>
            </a:endParaRPr>
          </a:p>
        </p:txBody>
      </p:sp>
      <p:sp>
        <p:nvSpPr>
          <p:cNvPr id="11" name="副标题 2">
            <a:extLst xmlns:a="http://schemas.openxmlformats.org/drawingml/2006/main">
              <a:ext uri="{FF2B5EF4-FFF2-40B4-BE49-F238E27FC236}">
                <a16:creationId xmlns:a16="http://schemas.microsoft.com/office/drawing/2014/main" id="{FD1C9D0E-2B6D-4D3D-8CB5-76A8A49A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946" y="2961144"/>
            <a:ext cx="4741853" cy="6182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>
            <a:noAutofit/>
          </a:bodyPr>
          <a:lstStyle xmlns:a="http://schemas.openxmlformats.org/drawingml/2006/main">
            <a:lvl1pPr marL="0" indent="0" algn="ctr" defTabSz="91440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/>
              <a:buNone/>
              <a:defRPr sz="2400" u="none" kern="1200" cap="none" spc="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2000" u="none" kern="1200" cap="none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800" u="none" kern="1200" cap="none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/>
              <a:buNone/>
              <a:defRPr sz="1600" u="none" kern="1200" cap="none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/>
              <a:buNone/>
              <a:defRPr sz="1600" u="none" kern="1200" cap="none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600" b="1">
                <a:solidFill>
                  <a:srgbClr val="05428E"/>
                </a:solidFill>
                <a:latin typeface="微软雅黑"/>
                <a:ea typeface="微软雅黑"/>
                <a:cs typeface="微软雅黑"/>
              </a:rPr>
              <a:t>作品功能设计</a:t>
            </a:r>
            <a:endParaRPr sz="3600" b="1">
              <a:solidFill>
                <a:srgbClr val="0542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AAAAF35A-821E-46A0-B146-C4900E38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28412"/>
            <a:ext cx="1595220" cy="2401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90170" tIns="46990" rIns="90170" bIns="4699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buNone/>
              <a:defRPr sz="26000" b="1" u="none" cap="none" spc="300" baseline="0">
                <a:gradFill flip="none" rotWithShape="1">
                  <a:gsLst>
                    <a:gs pos="100000">
                      <a:schemeClr val="accent1"/>
                    </a:gs>
                    <a:gs pos="0">
                      <a:schemeClr val="accent2"/>
                    </a:gs>
                  </a:gsLst>
                  <a:lin ang="16200000" scaled="0"/>
                  <a:tileRect/>
                </a:gradFill>
                <a:latin typeface="Source Han Sans CN Heavy"/>
                <a:ea typeface="Source Han Sans CN Heavy"/>
                <a:cs typeface="Source Han Sans CN Heavy"/>
              </a:defRPr>
            </a:lvl1pPr>
          </a:lstStyle>
          <a:p xmlns:a="http://schemas.openxmlformats.org/drawingml/2006/main">
            <a:pPr algn="r" defTabSz="457200">
              <a:buNone/>
            </a:pPr>
            <a:r>
              <a:rPr sz="8000">
                <a:gradFill rotWithShape="1">
                  <a:gsLst>
                    <a:gs pos="100000">
                      <a:srgbClr val="207DDD"/>
                    </a:gs>
                    <a:gs pos="0">
                      <a:srgbClr val="1F50AD"/>
                    </a:gs>
                  </a:gsLst>
                  <a:lin ang="16200000" scaled="0"/>
                  <a:tileRect/>
                </a:gradFill>
                <a:latin typeface="微软雅黑"/>
                <a:ea typeface="微软雅黑"/>
                <a:cs typeface="微软雅黑"/>
              </a:rPr>
              <a:t>03</a:t>
            </a:r>
            <a:endParaRPr sz="8000">
              <a:gradFill flip="none" rotWithShape="1">
                <a:gsLst>
                  <a:gs pos="100000">
                    <a:srgbClr val="207DDD"/>
                  </a:gs>
                  <a:gs pos="0">
                    <a:srgbClr val="1F50AD"/>
                  </a:gs>
                </a:gsLst>
                <a:lin ang="16200000" scaled="0"/>
                <a:tileRect/>
              </a:gra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任意形状 15">
            <a:extLst xmlns:a="http://schemas.openxmlformats.org/drawingml/2006/main">
              <a:ext uri="{FF2B5EF4-FFF2-40B4-BE49-F238E27FC236}">
                <a16:creationId xmlns:a16="http://schemas.microsoft.com/office/drawing/2014/main" id="{89F7C1F3-11DA-4E04-8F04-4E72AA03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0688" y="0"/>
            <a:ext cx="4214688" cy="6870988"/>
          </a:xfrm>
          <a:custGeom xmlns:a="http://schemas.openxmlformats.org/drawingml/2006/main">
            <a:gdLst>
              <a:gd name="connsiteX0" fmla="*/ 0 w 4214688"/>
              <a:gd name="connsiteY0" fmla="*/ 0 h 6870988"/>
              <a:gd name="connsiteX1" fmla="*/ 2330773 w 4214688"/>
              <a:gd name="connsiteY1" fmla="*/ 0 h 6870988"/>
              <a:gd name="connsiteX2" fmla="*/ 2422909 w 4214688"/>
              <a:gd name="connsiteY2" fmla="*/ 59067 h 6870988"/>
              <a:gd name="connsiteX3" fmla="*/ 4214688 w 4214688"/>
              <a:gd name="connsiteY3" fmla="*/ 3429000 h 6870988"/>
              <a:gd name="connsiteX4" fmla="*/ 2422909 w 4214688"/>
              <a:gd name="connsiteY4" fmla="*/ 6798933 h 6870988"/>
              <a:gd name="connsiteX5" fmla="*/ 2310514 w 4214688"/>
              <a:gd name="connsiteY5" fmla="*/ 6870988 h 6870988"/>
              <a:gd name="connsiteX6" fmla="*/ 0 w 4214688"/>
              <a:gd name="connsiteY6" fmla="*/ 6870988 h 6870988"/>
              <a:gd name="connsiteX7" fmla="*/ 0 w 4214688"/>
              <a:gd name="connsiteY7" fmla="*/ 0 h 6870988"/>
            </a:gdLst>
            <a:rect l="l" t="t" r="r" b="b"/>
            <a:pathLst>
              <a:path w="4214688" h="6870988">
                <a:moveTo>
                  <a:pt x="0" y="0"/>
                </a:moveTo>
                <a:lnTo>
                  <a:pt x="2330773" y="0"/>
                </a:lnTo>
                <a:lnTo>
                  <a:pt x="2422909" y="59067"/>
                </a:lnTo>
                <a:cubicBezTo>
                  <a:pt x="3503940" y="789398"/>
                  <a:pt x="4214688" y="2026197"/>
                  <a:pt x="4214688" y="3429000"/>
                </a:cubicBezTo>
                <a:cubicBezTo>
                  <a:pt x="4214688" y="4831803"/>
                  <a:pt x="3503940" y="6068603"/>
                  <a:pt x="2422909" y="6798933"/>
                </a:cubicBezTo>
                <a:lnTo>
                  <a:pt x="2310514" y="6870988"/>
                </a:lnTo>
                <a:lnTo>
                  <a:pt x="0" y="687098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8e28fb4625f8496e"/>
            <a:srcRect l="0" t="0" r="0" b="0"/>
            <a:tile tx="1270000" ty="1270000" sx="100000" sy="100000" flip="none" algn="ctr"/>
          </a:blip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2B007ED-3696-4675-99E4-F32DC504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515100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3418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3418E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5642646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直线连接符 3">
            <a:extLst xmlns:a="http://schemas.openxmlformats.org/drawingml/2006/main">
              <a:ext uri="{FF2B5EF4-FFF2-40B4-BE49-F238E27FC236}">
                <a16:creationId xmlns:a16="http://schemas.microsoft.com/office/drawing/2014/main" id="{1A703262-F135-4701-97FA-6385E031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900" y="1057450"/>
            <a:ext cx="11488967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1">
                <a:alpha val="74042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8B1063D1-F553-406F-866A-F7810D86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408" y="534230"/>
            <a:ext cx="952527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SzPct val="90000"/>
              <a:buNone/>
            </a:pPr>
            <a:r>
              <a:rPr sz="2800" b="1" spc="12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任务地图与实际操作</a:t>
            </a:r>
            <a:endParaRPr sz="2800" b="1" spc="120"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2BFB968-3CFB-4662-978D-F74B4DE4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" y="534231"/>
            <a:ext cx="457200" cy="523220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74F6CB55-8F9A-4453-B1EE-2A8994FF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76425"/>
            <a:ext cx="4381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800" b="1" spc="12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把实验操作</a:t>
            </a:r>
            <a:endParaRPr sz="2800" b="1" spc="120"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800" b="1" spc="12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变成学习证据</a:t>
            </a:r>
            <a:endParaRPr sz="2800" b="1" spc="120"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4562814F-0864-4295-A89C-F906C26D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2325"/>
            <a:ext cx="438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l">
              <a:lnSpc>
                <a:spcPct val="120000"/>
              </a:lnSpc>
              <a:buSzPct val="80000"/>
              <a:buFont typeface="Wingdings"/>
              <a:buChar char="p"/>
              <a:defRPr sz="16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600" spc="12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学生：章节任务、实验操作、学习复盘</a:t>
            </a:r>
            <a:endParaRPr sz="1600" spc="120">
              <a:solidFill>
                <a:schemeClr val="tx1">
                  <a:lumMod val="75000"/>
                  <a:lumOff val="2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B9C2181E-C881-418D-97CB-E769D079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05275"/>
            <a:ext cx="438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l">
              <a:lnSpc>
                <a:spcPct val="120000"/>
              </a:lnSpc>
              <a:buSzPct val="80000"/>
              <a:buFont typeface="Wingdings"/>
              <a:buChar char="p"/>
              <a:defRPr sz="16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600" spc="12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教师：任务编排、课堂控制、证据回看</a:t>
            </a:r>
            <a:endParaRPr sz="1600" spc="120">
              <a:solidFill>
                <a:schemeClr val="tx1">
                  <a:lumMod val="75000"/>
                  <a:lumOff val="2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54341329-96BB-4E44-A93B-A4FE52CC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48225"/>
            <a:ext cx="438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marL="285750" indent="-285750" algn="l">
              <a:lnSpc>
                <a:spcPct val="120000"/>
              </a:lnSpc>
              <a:buSzPct val="80000"/>
              <a:buFont typeface="Wingdings"/>
              <a:buChar char="p"/>
              <a:defRPr sz="16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600" spc="12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诊断：已接入 29 个实际电路工作台</a:t>
            </a:r>
            <a:endParaRPr sz="1600" spc="120">
              <a:solidFill>
                <a:schemeClr val="tx1">
                  <a:lumMod val="75000"/>
                  <a:lumOff val="2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a0847af7554932"/>
          <a:srcRect xmlns:a="http://schemas.openxmlformats.org/drawingml/2006/main" l="17500" t="22600" r="800" b="38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1762125"/>
            <a:ext cx="6000750" cy="4143375"/>
          </a:xfrm>
          <a:prstGeom xmlns:a="http://schemas.openxmlformats.org/drawingml/2006/main" prst="rect">
            <a:avLst/>
          </a:prstGeom>
        </p:spPr>
      </p:pic>
      <p:sp>
        <p:nvSpPr>
          <p:cNvPr id="12" name="scope-caption">
            <a:extLst xmlns:a="http://schemas.openxmlformats.org/drawingml/2006/main">
              <a:ext uri="{FF2B5EF4-FFF2-40B4-BE49-F238E27FC236}">
                <a16:creationId xmlns:a16="http://schemas.microsoft.com/office/drawing/2014/main" id="{CFFAEAEB-2941-4935-A1C3-626BA664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界面来自隔离验收场景。3D 概览无学生连线输入，不计入电路深度诊断范围。</a:t>
            </a:r>
          </a:p>
        </p:txBody>
      </p:sp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5BEAED6-553E-4A2B-AD59-DA56039E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515100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3418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3418E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7074707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直线连接符 3">
            <a:extLst xmlns:a="http://schemas.openxmlformats.org/drawingml/2006/main">
              <a:ext uri="{FF2B5EF4-FFF2-40B4-BE49-F238E27FC236}">
                <a16:creationId xmlns:a16="http://schemas.microsoft.com/office/drawing/2014/main" id="{72903C0B-2F1F-4FCB-AD5A-66D3DAA1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900" y="1057450"/>
            <a:ext cx="11488967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1">
                <a:alpha val="74042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714AD683-AF14-472C-8AFA-34F65477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408" y="534230"/>
            <a:ext cx="952527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SzPct val="90000"/>
              <a:buNone/>
            </a:pPr>
            <a:r>
              <a:rPr sz="2800" b="1" spc="12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学生诊断、修改与复测</a:t>
            </a:r>
            <a:endParaRPr sz="2800" b="1" spc="120"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B52020F-4D3B-42FD-B4B1-25329600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" y="534231"/>
            <a:ext cx="457200" cy="523220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student-label">
            <a:extLst xmlns:a="http://schemas.openxmlformats.org/drawingml/2006/main">
              <a:ext uri="{FF2B5EF4-FFF2-40B4-BE49-F238E27FC236}">
                <a16:creationId xmlns:a16="http://schemas.microsoft.com/office/drawing/2014/main" id="{2A937182-2815-47A4-8E0B-F5BE3124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43827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3418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03418E"/>
                </a:solidFill>
                <a:latin typeface="微软雅黑"/>
                <a:ea typeface="微软雅黑"/>
                <a:cs typeface="微软雅黑"/>
              </a:rPr>
              <a:t>检测事实与分级帮助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2db359a7ef41dd"/>
          <a:srcRect xmlns:a="http://schemas.openxmlformats.org/drawingml/2006/main" l="1800" t="18500" r="1800" b="57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1981200"/>
            <a:ext cx="7143750" cy="3352800"/>
          </a:xfrm>
          <a:prstGeom xmlns:a="http://schemas.openxmlformats.org/drawingml/2006/main" prst="rect">
            <a:avLst/>
          </a:prstGeom>
        </p:spPr>
      </p:pic>
      <p:sp>
        <p:nvSpPr>
          <p:cNvPr id="9" name="student-chain">
            <a:extLst xmlns:a="http://schemas.openxmlformats.org/drawingml/2006/main">
              <a:ext uri="{FF2B5EF4-FFF2-40B4-BE49-F238E27FC236}">
                <a16:creationId xmlns:a16="http://schemas.microsoft.com/office/drawing/2014/main" id="{B07646BC-EB09-4AAA-96FF-771ED694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838825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3418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3418E"/>
                </a:solidFill>
                <a:latin typeface="微软雅黑"/>
                <a:ea typeface="微软雅黑"/>
                <a:cs typeface="微软雅黑"/>
              </a:rPr>
              <a:t>实际检测 → 分级提示 → 修改验证 → 独立记录复测</a:t>
            </a:r>
          </a:p>
        </p:txBody>
      </p:sp>
      <p:sp>
        <p:nvSpPr>
          <p:cNvPr id="10" name="mobile-label">
            <a:extLst xmlns:a="http://schemas.openxmlformats.org/drawingml/2006/main">
              <a:ext uri="{FF2B5EF4-FFF2-40B4-BE49-F238E27FC236}">
                <a16:creationId xmlns:a16="http://schemas.microsoft.com/office/drawing/2014/main" id="{A2B4D5A9-1301-4B3E-B594-746D1965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4382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3418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3418E"/>
                </a:solidFill>
                <a:latin typeface="微软雅黑"/>
                <a:ea typeface="微软雅黑"/>
                <a:cs typeface="微软雅黑"/>
              </a:rPr>
              <a:t>移动端复测记录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ea72e608f74c05"/>
          <a:srcRect xmlns:a="http://schemas.openxmlformats.org/drawingml/2006/main" l="3500" t="77700" r="3500" b="2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01050" y="1981200"/>
            <a:ext cx="3019425" cy="3162300"/>
          </a:xfrm>
          <a:prstGeom xmlns:a="http://schemas.openxmlformats.org/drawingml/2006/main" prst="rect">
            <a:avLst/>
          </a:prstGeom>
        </p:spPr>
      </p:pic>
      <p:sp>
        <p:nvSpPr>
          <p:cNvPr id="12" name="retest-scope">
            <a:extLst xmlns:a="http://schemas.openxmlformats.org/drawingml/2006/main">
              <a:ext uri="{FF2B5EF4-FFF2-40B4-BE49-F238E27FC236}">
                <a16:creationId xmlns:a16="http://schemas.microsoft.com/office/drawing/2014/main" id="{5DC03C49-29BB-42D6-B596-FBAE115F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438775"/>
            <a:ext cx="3086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3418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03418E"/>
                </a:solidFill>
                <a:latin typeface="微软雅黑"/>
                <a:ea typeface="微软雅黑"/>
                <a:cs typeface="微软雅黑"/>
              </a:rPr>
              <a:t>同规格预测的复测</a:t>
            </a:r>
          </a:p>
          <a:p xmlns:a="http://schemas.openxmlformats.org/drawingml/2006/main">
            <a:pPr algn="l">
              <a:defRPr sz="1500" b="0">
                <a:solidFill>
                  <a:srgbClr val="03418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03418E"/>
                </a:solidFill>
                <a:latin typeface="微软雅黑"/>
                <a:ea typeface="微软雅黑"/>
                <a:cs typeface="微软雅黑"/>
              </a:rPr>
              <a:t>输入域与重复情况明确提示</a:t>
            </a:r>
          </a:p>
        </p:txBody>
      </p:sp>
      <p:sp>
        <p:nvSpPr>
          <p:cNvPr id="13" name="scope-caption">
            <a:extLst xmlns:a="http://schemas.openxmlformats.org/drawingml/2006/main">
              <a:ext uri="{FF2B5EF4-FFF2-40B4-BE49-F238E27FC236}">
                <a16:creationId xmlns:a16="http://schemas.microsoft.com/office/drawing/2014/main" id="{925221CE-7A66-4D96-90BA-619B1F55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全加器保留多位迁移题；其他实验主要是同规格输出预测，小输入域与重复输入明确提示。</a:t>
            </a:r>
          </a:p>
        </p:txBody>
      </p:sp>
      <p:sp>
        <p:nvSpPr>
          <p:cNvPr id="1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234BAA4-D861-49B3-98A9-DD611C8F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515100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3418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3418E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7875835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直线连接符 3">
            <a:extLst xmlns:a="http://schemas.openxmlformats.org/drawingml/2006/main">
              <a:ext uri="{FF2B5EF4-FFF2-40B4-BE49-F238E27FC236}">
                <a16:creationId xmlns:a16="http://schemas.microsoft.com/office/drawing/2014/main" id="{72903C0B-2F1F-4FCB-AD5A-66D3DAA1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900" y="1057450"/>
            <a:ext cx="11488967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1">
                <a:alpha val="74042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714AD683-AF14-472C-8AFA-34F65477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408" y="534230"/>
            <a:ext cx="952527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SzPct val="90000"/>
              <a:buNone/>
            </a:pPr>
            <a:r>
              <a:rPr sz="2800" b="1" spc="12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教师从建议到课堂任务</a:t>
            </a:r>
            <a:endParaRPr sz="2800" b="1" spc="120"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B52020F-4D3B-42FD-B4B1-25329600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" y="534231"/>
            <a:ext cx="457200" cy="523220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acher-main">
            <a:extLst xmlns:a="http://schemas.openxmlformats.org/drawingml/2006/main">
              <a:ext uri="{FF2B5EF4-FFF2-40B4-BE49-F238E27FC236}">
                <a16:creationId xmlns:a16="http://schemas.microsoft.com/office/drawing/2014/main" id="{61ADBE75-655B-46D5-AF90-A5D258A3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52575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3418E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3418E"/>
                </a:solidFill>
                <a:latin typeface="微软雅黑"/>
                <a:ea typeface="微软雅黑"/>
                <a:cs typeface="微软雅黑"/>
              </a:rPr>
              <a:t>每条建议有依据</a:t>
            </a:r>
          </a:p>
          <a:p xmlns:a="http://schemas.openxmlformats.org/drawingml/2006/main">
            <a:pPr algn="l">
              <a:defRPr sz="2700" b="1">
                <a:solidFill>
                  <a:srgbClr val="03418E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03418E"/>
                </a:solidFill>
                <a:latin typeface="微软雅黑"/>
                <a:ea typeface="微软雅黑"/>
                <a:cs typeface="微软雅黑"/>
              </a:rPr>
              <a:t>每次调整有记录</a:t>
            </a:r>
          </a:p>
        </p:txBody>
      </p:sp>
      <p:sp>
        <p:nvSpPr>
          <p:cNvPr id="8" name="teacher-step-0">
            <a:extLst xmlns:a="http://schemas.openxmlformats.org/drawingml/2006/main">
              <a:ext uri="{FF2B5EF4-FFF2-40B4-BE49-F238E27FC236}">
                <a16:creationId xmlns:a16="http://schemas.microsoft.com/office/drawing/2014/main" id="{310DAF18-4D13-40CE-BEC1-405BF94C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28950"/>
            <a:ext cx="442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1  查看课堂安排及逐条证据</a:t>
            </a:r>
          </a:p>
        </p:txBody>
      </p:sp>
      <p:sp>
        <p:nvSpPr>
          <p:cNvPr id="9" name="teacher-step-1">
            <a:extLst xmlns:a="http://schemas.openxmlformats.org/drawingml/2006/main">
              <a:ext uri="{FF2B5EF4-FFF2-40B4-BE49-F238E27FC236}">
                <a16:creationId xmlns:a16="http://schemas.microsoft.com/office/drawing/2014/main" id="{4773D7DD-A0C5-4DFF-9EBD-DA9E3C45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638550"/>
            <a:ext cx="442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2  采纳为草稿，修改重点、步骤与节点</a:t>
            </a:r>
          </a:p>
        </p:txBody>
      </p:sp>
      <p:sp>
        <p:nvSpPr>
          <p:cNvPr id="10" name="teacher-step-2">
            <a:extLst xmlns:a="http://schemas.openxmlformats.org/drawingml/2006/main">
              <a:ext uri="{FF2B5EF4-FFF2-40B4-BE49-F238E27FC236}">
                <a16:creationId xmlns:a16="http://schemas.microsoft.com/office/drawing/2014/main" id="{DF336F67-8C2F-4086-BE96-862C463D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248150"/>
            <a:ext cx="442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3  保存调整说明，再发布到课堂</a:t>
            </a:r>
          </a:p>
        </p:txBody>
      </p:sp>
      <p:sp>
        <p:nvSpPr>
          <p:cNvPr id="11" name="teacher-step-3">
            <a:extLst xmlns:a="http://schemas.openxmlformats.org/drawingml/2006/main">
              <a:ext uri="{FF2B5EF4-FFF2-40B4-BE49-F238E27FC236}">
                <a16:creationId xmlns:a16="http://schemas.microsoft.com/office/drawing/2014/main" id="{B791B56A-92DB-4F7F-A93E-8D33582D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857750"/>
            <a:ext cx="442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4  回看原报告、保存版本与发布记录</a:t>
            </a:r>
          </a:p>
        </p:txBody>
      </p:sp>
      <p:sp>
        <p:nvSpPr>
          <p:cNvPr id="12" name="privacy">
            <a:extLst xmlns:a="http://schemas.openxmlformats.org/drawingml/2006/main">
              <a:ext uri="{FF2B5EF4-FFF2-40B4-BE49-F238E27FC236}">
                <a16:creationId xmlns:a16="http://schemas.microsoft.com/office/drawing/2014/main" id="{2AFE47E1-1414-469A-A7A1-B9ECB359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619750"/>
            <a:ext cx="442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3418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03418E"/>
                </a:solidFill>
                <a:latin typeface="微软雅黑"/>
                <a:ea typeface="微软雅黑"/>
                <a:cs typeface="微软雅黑"/>
              </a:rPr>
              <a:t>原报告与调整记录仅教师可见</a:t>
            </a:r>
          </a:p>
          <a:p xmlns:a="http://schemas.openxmlformats.org/drawingml/2006/main">
            <a:pPr algn="l">
              <a:defRPr sz="1500" b="0">
                <a:solidFill>
                  <a:srgbClr val="03418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03418E"/>
                </a:solidFill>
                <a:latin typeface="微软雅黑"/>
                <a:ea typeface="微软雅黑"/>
                <a:cs typeface="微软雅黑"/>
              </a:rPr>
              <a:t>学生获得已发布任务</a:t>
            </a:r>
          </a:p>
          <a:p xmlns:a="http://schemas.openxmlformats.org/drawingml/2006/main">
            <a:pPr algn="l">
              <a:defRPr sz="1500" b="0">
                <a:solidFill>
                  <a:srgbClr val="03418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03418E"/>
                </a:solidFill>
                <a:latin typeface="微软雅黑"/>
                <a:ea typeface="微软雅黑"/>
                <a:cs typeface="微软雅黑"/>
              </a:rPr>
              <a:t>生成模型不自动发布</a:t>
            </a:r>
          </a:p>
        </p:txBody>
      </p:sp>
      <p:sp>
        <p:nvSpPr>
          <p:cNvPr id="13" name="teacher-source-caption">
            <a:extLst xmlns:a="http://schemas.openxmlformats.org/drawingml/2006/main">
              <a:ext uri="{FF2B5EF4-FFF2-40B4-BE49-F238E27FC236}">
                <a16:creationId xmlns:a16="http://schemas.microsoft.com/office/drawing/2014/main" id="{8556001A-104D-45AB-A06A-6F74BF8F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5144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3418E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3418E"/>
                </a:solidFill>
                <a:latin typeface="微软雅黑"/>
                <a:ea typeface="微软雅黑"/>
                <a:cs typeface="微软雅黑"/>
              </a:rPr>
              <a:t>建议逐条依据</a:t>
            </a:r>
          </a:p>
        </p:txBody>
      </p:sp>
      <p:sp>
        <p:nvSpPr>
          <p:cNvPr id="14" name="teacher-version-caption">
            <a:extLst xmlns:a="http://schemas.openxmlformats.org/drawingml/2006/main">
              <a:ext uri="{FF2B5EF4-FFF2-40B4-BE49-F238E27FC236}">
                <a16:creationId xmlns:a16="http://schemas.microsoft.com/office/drawing/2014/main" id="{1A4786A5-E6F7-43EF-B16D-293B9065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5144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3418E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3418E"/>
                </a:solidFill>
                <a:latin typeface="微软雅黑"/>
                <a:ea typeface="微软雅黑"/>
                <a:cs typeface="微软雅黑"/>
              </a:rPr>
              <a:t>保存及发布记录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2bc89a168c4fc4"/>
          <a:srcRect xmlns:a="http://schemas.openxmlformats.org/drawingml/2006/main" l="3000" t="29100" r="3000" b="279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0" y="2000250"/>
            <a:ext cx="2924175" cy="4086225"/>
          </a:xfrm>
          <a:prstGeom xmlns:a="http://schemas.openxmlformats.org/drawingml/2006/main" prst="rect">
            <a:avLst/>
          </a:prstGeom>
        </p:spPr>
      </p:pic>
      <p:sp>
        <p:nvSpPr>
          <p:cNvPr id="16" name="teacher-version-summary">
            <a:extLst xmlns:a="http://schemas.openxmlformats.org/drawingml/2006/main">
              <a:ext uri="{FF2B5EF4-FFF2-40B4-BE49-F238E27FC236}">
                <a16:creationId xmlns:a16="http://schemas.microsoft.com/office/drawing/2014/main" id="{55EC9C31-598D-4236-BBE2-AE402B4C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38350"/>
            <a:ext cx="29241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报告保留原始建议</a:t>
            </a:r>
          </a:p>
          <a:p xmlns:a="http://schemas.openxmlformats.org/drawingml/2006/main">
            <a:pPr algn="l">
              <a:defRPr sz="165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教师两次修改并保存</a:t>
            </a:r>
          </a:p>
          <a:p xmlns:a="http://schemas.openxmlformats.org/drawingml/2006/main">
            <a:pPr algn="l">
              <a:defRPr sz="165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发布关联具体任务版本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bf4e201f0d41e4"/>
          <a:srcRect xmlns:a="http://schemas.openxmlformats.org/drawingml/2006/main" l="3000" t="73000" r="3000" b="2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24900" y="3333750"/>
            <a:ext cx="2924175" cy="2562225"/>
          </a:xfrm>
          <a:prstGeom xmlns:a="http://schemas.openxmlformats.org/drawingml/2006/main" prst="rect">
            <a:avLst/>
          </a:prstGeom>
        </p:spPr>
      </p:pic>
      <p:sp>
        <p:nvSpPr>
          <p:cNvPr id="18" name="scope-caption">
            <a:extLst xmlns:a="http://schemas.openxmlformats.org/drawingml/2006/main">
              <a:ext uri="{FF2B5EF4-FFF2-40B4-BE49-F238E27FC236}">
                <a16:creationId xmlns:a16="http://schemas.microsoft.com/office/drawing/2014/main" id="{5ADF2690-D0AD-4F23-8CA2-803B4C17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隔离验收截图：原报告 → 两次教师修改 → 发布版本关联；引用合法性不等于语义正确性。</a:t>
            </a:r>
          </a:p>
        </p:txBody>
      </p:sp>
      <p:sp>
        <p:nvSpPr>
          <p:cNvPr id="1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297F214-B3D4-4401-A76E-DDD32A3C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515100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3418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3418E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7875835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C5CC3F49-FBA2-48D8-874B-4556B814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1627" y="3842828"/>
            <a:ext cx="3535572" cy="4571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BD2F2">
              <a:alpha val="42000"/>
            </a:srgb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Source Han Sans CN Regular"/>
              <a:ea typeface="Source Han Sans CN Regular"/>
              <a:cs typeface="Source Han Sans CN Regular"/>
            </a:endParaRPr>
          </a:p>
        </p:txBody>
      </p:sp>
      <p:sp>
        <p:nvSpPr>
          <p:cNvPr id="3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EEC02498-C6BD-437E-9816-4EE86880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626" y="3842652"/>
            <a:ext cx="536145" cy="45719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100000">
                <a:srgbClr val="207DDD"/>
              </a:gs>
              <a:gs pos="0">
                <a:srgbClr val="1F50AD"/>
              </a:gs>
            </a:gsLst>
            <a:lin ang="16200000" scaled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gradFill>
                <a:gsLst>
                  <a:gs pos="100000">
                    <a:srgbClr val="1B999B"/>
                  </a:gs>
                  <a:gs pos="0">
                    <a:srgbClr val="164928"/>
                  </a:gs>
                </a:gsLst>
                <a:lin ang="0" scaled="1"/>
              </a:gradFill>
              <a:latin typeface="Source Han Sans CN Regular"/>
              <a:ea typeface="Source Han Sans CN Regular"/>
              <a:cs typeface="Source Han Sans CN Regular"/>
            </a:endParaRPr>
          </a:p>
        </p:txBody>
      </p:sp>
      <p:sp>
        <p:nvSpPr>
          <p:cNvPr id="11" name="副标题 2">
            <a:extLst xmlns:a="http://schemas.openxmlformats.org/drawingml/2006/main">
              <a:ext uri="{FF2B5EF4-FFF2-40B4-BE49-F238E27FC236}">
                <a16:creationId xmlns:a16="http://schemas.microsoft.com/office/drawing/2014/main" id="{674524EE-EA30-4278-815C-4045BB07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946" y="2961144"/>
            <a:ext cx="4741853" cy="6182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>
            <a:noAutofit/>
          </a:bodyPr>
          <a:lstStyle xmlns:a="http://schemas.openxmlformats.org/drawingml/2006/main">
            <a:lvl1pPr marL="0" indent="0" algn="ctr" defTabSz="91440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/>
              <a:buNone/>
              <a:defRPr sz="2400" u="none" kern="1200" cap="none" spc="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2000" u="none" kern="1200" cap="none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800" u="none" kern="1200" cap="none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/>
              <a:buNone/>
              <a:defRPr sz="1600" u="none" kern="1200" cap="none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/>
              <a:buNone/>
              <a:defRPr sz="1600" u="none" kern="1200" cap="none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600" b="1">
                <a:solidFill>
                  <a:srgbClr val="05428E"/>
                </a:solidFill>
                <a:latin typeface="微软雅黑"/>
                <a:ea typeface="微软雅黑"/>
                <a:cs typeface="微软雅黑"/>
              </a:rPr>
              <a:t>技术实现方案</a:t>
            </a:r>
            <a:endParaRPr sz="3600" b="1">
              <a:solidFill>
                <a:srgbClr val="0542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C919BCF2-69AE-4D3C-B63B-33CD0956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28412"/>
            <a:ext cx="1595220" cy="2401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90170" tIns="46990" rIns="90170" bIns="4699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buNone/>
              <a:defRPr sz="26000" b="1" u="none" cap="none" spc="300" baseline="0">
                <a:gradFill flip="none" rotWithShape="1">
                  <a:gsLst>
                    <a:gs pos="100000">
                      <a:schemeClr val="accent1"/>
                    </a:gs>
                    <a:gs pos="0">
                      <a:schemeClr val="accent2"/>
                    </a:gs>
                  </a:gsLst>
                  <a:lin ang="16200000" scaled="0"/>
                  <a:tileRect/>
                </a:gradFill>
                <a:latin typeface="Source Han Sans CN Heavy"/>
                <a:ea typeface="Source Han Sans CN Heavy"/>
                <a:cs typeface="Source Han Sans CN Heavy"/>
              </a:defRPr>
            </a:lvl1pPr>
          </a:lstStyle>
          <a:p xmlns:a="http://schemas.openxmlformats.org/drawingml/2006/main">
            <a:pPr algn="r" defTabSz="457200">
              <a:buNone/>
            </a:pPr>
            <a:r>
              <a:rPr sz="8000">
                <a:gradFill rotWithShape="1">
                  <a:gsLst>
                    <a:gs pos="100000">
                      <a:srgbClr val="207DDD"/>
                    </a:gs>
                    <a:gs pos="0">
                      <a:srgbClr val="1F50AD"/>
                    </a:gs>
                  </a:gsLst>
                  <a:lin ang="16200000" scaled="0"/>
                  <a:tileRect/>
                </a:gradFill>
                <a:latin typeface="微软雅黑"/>
                <a:ea typeface="微软雅黑"/>
                <a:cs typeface="微软雅黑"/>
              </a:rPr>
              <a:t>04</a:t>
            </a:r>
            <a:endParaRPr sz="8000">
              <a:gradFill flip="none" rotWithShape="1">
                <a:gsLst>
                  <a:gs pos="100000">
                    <a:srgbClr val="207DDD"/>
                  </a:gs>
                  <a:gs pos="0">
                    <a:srgbClr val="1F50AD"/>
                  </a:gs>
                </a:gsLst>
                <a:lin ang="16200000" scaled="0"/>
                <a:tileRect/>
              </a:gra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任意形状 15">
            <a:extLst xmlns:a="http://schemas.openxmlformats.org/drawingml/2006/main">
              <a:ext uri="{FF2B5EF4-FFF2-40B4-BE49-F238E27FC236}">
                <a16:creationId xmlns:a16="http://schemas.microsoft.com/office/drawing/2014/main" id="{11F9A556-E6EE-4AA6-9265-A6A220DA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0688" y="0"/>
            <a:ext cx="4214688" cy="6870988"/>
          </a:xfrm>
          <a:custGeom xmlns:a="http://schemas.openxmlformats.org/drawingml/2006/main">
            <a:gdLst>
              <a:gd name="connsiteX0" fmla="*/ 0 w 4214688"/>
              <a:gd name="connsiteY0" fmla="*/ 0 h 6870988"/>
              <a:gd name="connsiteX1" fmla="*/ 2330773 w 4214688"/>
              <a:gd name="connsiteY1" fmla="*/ 0 h 6870988"/>
              <a:gd name="connsiteX2" fmla="*/ 2422909 w 4214688"/>
              <a:gd name="connsiteY2" fmla="*/ 59067 h 6870988"/>
              <a:gd name="connsiteX3" fmla="*/ 4214688 w 4214688"/>
              <a:gd name="connsiteY3" fmla="*/ 3429000 h 6870988"/>
              <a:gd name="connsiteX4" fmla="*/ 2422909 w 4214688"/>
              <a:gd name="connsiteY4" fmla="*/ 6798933 h 6870988"/>
              <a:gd name="connsiteX5" fmla="*/ 2310514 w 4214688"/>
              <a:gd name="connsiteY5" fmla="*/ 6870988 h 6870988"/>
              <a:gd name="connsiteX6" fmla="*/ 0 w 4214688"/>
              <a:gd name="connsiteY6" fmla="*/ 6870988 h 6870988"/>
              <a:gd name="connsiteX7" fmla="*/ 0 w 4214688"/>
              <a:gd name="connsiteY7" fmla="*/ 0 h 6870988"/>
            </a:gdLst>
            <a:rect l="l" t="t" r="r" b="b"/>
            <a:pathLst>
              <a:path w="4214688" h="6870988">
                <a:moveTo>
                  <a:pt x="0" y="0"/>
                </a:moveTo>
                <a:lnTo>
                  <a:pt x="2330773" y="0"/>
                </a:lnTo>
                <a:lnTo>
                  <a:pt x="2422909" y="59067"/>
                </a:lnTo>
                <a:cubicBezTo>
                  <a:pt x="3503940" y="789398"/>
                  <a:pt x="4214688" y="2026197"/>
                  <a:pt x="4214688" y="3429000"/>
                </a:cubicBezTo>
                <a:cubicBezTo>
                  <a:pt x="4214688" y="4831803"/>
                  <a:pt x="3503940" y="6068603"/>
                  <a:pt x="2422909" y="6798933"/>
                </a:cubicBezTo>
                <a:lnTo>
                  <a:pt x="2310514" y="6870988"/>
                </a:lnTo>
                <a:lnTo>
                  <a:pt x="0" y="687098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bab7993d7e7a421e"/>
            <a:srcRect l="0" t="0" r="0" b="0"/>
            <a:tile tx="1270000" ty="1270000" sx="100000" sy="100000" flip="none" algn="ctr"/>
          </a:blip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84F327E-F107-4780-920E-1FAC8F82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515100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3418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3418E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5574651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直线连接符 3">
            <a:extLst xmlns:a="http://schemas.openxmlformats.org/drawingml/2006/main">
              <a:ext uri="{FF2B5EF4-FFF2-40B4-BE49-F238E27FC236}">
                <a16:creationId xmlns:a16="http://schemas.microsoft.com/office/drawing/2014/main" id="{F8BF769D-C9E4-4E0C-9A8D-A20B31A8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900" y="1057450"/>
            <a:ext cx="11488967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1">
                <a:alpha val="74042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3C95A6E0-AE6E-486C-B2A7-E05E4BCB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408" y="534230"/>
            <a:ext cx="952527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SzPct val="90000"/>
              <a:buNone/>
            </a:pPr>
            <a:r>
              <a:rPr sz="2800" b="1" spc="12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确定性检测与受限生成</a:t>
            </a:r>
            <a:endParaRPr sz="2800" b="1" spc="120"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EC44DCA-C4F5-4BC2-A8EB-5B38D71E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" y="534231"/>
            <a:ext cx="457200" cy="523220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右箭头 6">
            <a:extLst xmlns:a="http://schemas.openxmlformats.org/drawingml/2006/main">
              <a:ext uri="{FF2B5EF4-FFF2-40B4-BE49-F238E27FC236}">
                <a16:creationId xmlns:a16="http://schemas.microsoft.com/office/drawing/2014/main" id="{8346D15A-5727-4042-A05B-3BB13521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00" y="2078187"/>
            <a:ext cx="10633017" cy="997527"/>
          </a:xfrm>
          <a:prstGeom xmlns:a="http://schemas.openxmlformats.org/drawingml/2006/main" prst="rightArrow">
            <a:avLst>
              <a:gd name="adj1" fmla="val 45833"/>
              <a:gd name="adj2" fmla="val 50000"/>
            </a:avLst>
          </a:prstGeom>
          <a:gradFill xmlns:a="http://schemas.openxmlformats.org/drawingml/2006/main" rotWithShape="1">
            <a:gsLst>
              <a:gs pos="28000">
                <a:schemeClr val="accent1">
                  <a:alpha val="55000"/>
                </a:schemeClr>
              </a:gs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8" name="六边形 7">
            <a:extLst xmlns:a="http://schemas.openxmlformats.org/drawingml/2006/main">
              <a:ext uri="{FF2B5EF4-FFF2-40B4-BE49-F238E27FC236}">
                <a16:creationId xmlns:a16="http://schemas.microsoft.com/office/drawing/2014/main" id="{52BCD050-AF44-4917-A8F7-FB78294A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435578" y="1842424"/>
            <a:ext cx="1704100" cy="1469052"/>
          </a:xfrm>
          <a:prstGeom xmlns:a="http://schemas.openxmlformats.org/drawingml/2006/main" prst="hexagon">
            <a:avLst/>
          </a:prstGeom>
          <a:ln xmlns:a="http://schemas.openxmlformats.org/drawingml/2006/main" w="19050">
            <a:solidFill>
              <a:schemeClr val="bg1"/>
            </a:solidFill>
          </a:ln>
          <a:effectLst xmlns:a="http://schemas.openxmlformats.org/drawingml/2006/main">
            <a:outerShdw blurRad="182873" algn="ctr" rotWithShape="0">
              <a:prstClr val="black">
                <a:alpha val="16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六边形 8">
            <a:extLst xmlns:a="http://schemas.openxmlformats.org/drawingml/2006/main">
              <a:ext uri="{FF2B5EF4-FFF2-40B4-BE49-F238E27FC236}">
                <a16:creationId xmlns:a16="http://schemas.microsoft.com/office/drawing/2014/main" id="{C855DFDB-E3F6-4444-B06A-5135FFB8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776932" y="1842424"/>
            <a:ext cx="1704100" cy="1469052"/>
          </a:xfrm>
          <a:prstGeom xmlns:a="http://schemas.openxmlformats.org/drawingml/2006/main" prst="hexagon">
            <a:avLst/>
          </a:prstGeom>
          <a:ln xmlns:a="http://schemas.openxmlformats.org/drawingml/2006/main" w="19050">
            <a:solidFill>
              <a:schemeClr val="bg1"/>
            </a:solidFill>
          </a:ln>
          <a:effectLst xmlns:a="http://schemas.openxmlformats.org/drawingml/2006/main">
            <a:outerShdw blurRad="182873" algn="ctr" rotWithShape="0">
              <a:prstClr val="black">
                <a:alpha val="16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六边形 9">
            <a:extLst xmlns:a="http://schemas.openxmlformats.org/drawingml/2006/main">
              <a:ext uri="{FF2B5EF4-FFF2-40B4-BE49-F238E27FC236}">
                <a16:creationId xmlns:a16="http://schemas.microsoft.com/office/drawing/2014/main" id="{1B745216-507B-45AE-AB24-BB6364D5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118286" y="1842424"/>
            <a:ext cx="1704100" cy="1469052"/>
          </a:xfrm>
          <a:prstGeom xmlns:a="http://schemas.openxmlformats.org/drawingml/2006/main" prst="hexagon">
            <a:avLst/>
          </a:prstGeom>
          <a:ln xmlns:a="http://schemas.openxmlformats.org/drawingml/2006/main" w="19050">
            <a:solidFill>
              <a:schemeClr val="bg1"/>
            </a:solidFill>
          </a:ln>
          <a:effectLst xmlns:a="http://schemas.openxmlformats.org/drawingml/2006/main">
            <a:outerShdw blurRad="182873" algn="ctr" rotWithShape="0">
              <a:prstClr val="black">
                <a:alpha val="16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六边形 13">
            <a:extLst xmlns:a="http://schemas.openxmlformats.org/drawingml/2006/main">
              <a:ext uri="{FF2B5EF4-FFF2-40B4-BE49-F238E27FC236}">
                <a16:creationId xmlns:a16="http://schemas.microsoft.com/office/drawing/2014/main" id="{C1B2B166-C2EE-46C2-AC9A-9192D168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459640" y="1842424"/>
            <a:ext cx="1704100" cy="1469052"/>
          </a:xfrm>
          <a:prstGeom xmlns:a="http://schemas.openxmlformats.org/drawingml/2006/main" prst="hexagon">
            <a:avLst/>
          </a:prstGeom>
          <a:ln xmlns:a="http://schemas.openxmlformats.org/drawingml/2006/main" w="19050">
            <a:solidFill>
              <a:schemeClr val="bg1"/>
            </a:solidFill>
          </a:ln>
          <a:effectLst xmlns:a="http://schemas.openxmlformats.org/drawingml/2006/main">
            <a:outerShdw blurRad="182873" algn="ctr" rotWithShape="0">
              <a:prstClr val="black">
                <a:alpha val="16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515096DD-333D-4D82-BE85-9ED28B74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5095" y="2204027"/>
            <a:ext cx="1225067" cy="7458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</a:pPr>
            <a:r>
              <a:rPr sz="2000" b="1" spc="3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交互层</a:t>
            </a:r>
            <a:endParaRPr sz="2000" b="1" spc="30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67693C89-D48D-4B51-A7C1-529B1481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6449" y="2204027"/>
            <a:ext cx="1225067" cy="7458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</a:pPr>
            <a:r>
              <a:rPr sz="2000" b="1" spc="3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证据层</a:t>
            </a:r>
            <a:endParaRPr sz="2000" b="1" spc="30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91C05D42-7610-4A50-85B1-994C323A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7803" y="2204027"/>
            <a:ext cx="1225067" cy="7458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</a:pPr>
            <a:r>
              <a:rPr sz="2000" b="1" spc="3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生成层</a:t>
            </a:r>
            <a:endParaRPr sz="2000" b="1" spc="30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1C6CDAA5-280D-447E-839E-F68E2490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9157" y="2204027"/>
            <a:ext cx="1225067" cy="7458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</a:pPr>
            <a:r>
              <a:rPr sz="2000" b="1" spc="3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记录层</a:t>
            </a:r>
            <a:endParaRPr sz="2000" b="1" spc="30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C84E48C9-91F5-421E-9DC2-1E9B97B2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14" y="3629129"/>
            <a:ext cx="1899764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React / Vite</a:t>
            </a:r>
            <a:endParaRPr sz="15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React Flow</a:t>
            </a:r>
            <a:endParaRPr sz="15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Three.js</a:t>
            </a:r>
            <a:endParaRPr sz="15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20000"/>
              </a:lnSpc>
              <a:buSzPct val="80000"/>
              <a:buNone/>
            </a:pPr>
            <a:r>
              <a:rPr sz="1500" spc="14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/>
            </a:r>
            <a:endParaRPr sz="15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任务地图与画布</a:t>
            </a:r>
            <a:endParaRPr sz="15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教师编排与控制</a:t>
            </a:r>
            <a:endParaRPr sz="15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移动端查看复盘</a:t>
            </a:r>
            <a:endParaRPr sz="15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C51DEB4E-2E96-40ED-ADA1-4DDDE9B7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352" y="3053768"/>
            <a:ext cx="2175688" cy="3098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>
                <a:alpha val="6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0F1BD128-A251-480F-B5E1-16A84DEA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1138" y="3053768"/>
            <a:ext cx="2175688" cy="3098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>
                <a:alpha val="6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6E179DC1-9362-4484-8415-863EC717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2492" y="3053768"/>
            <a:ext cx="2175688" cy="3098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>
                <a:alpha val="6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28226171-1089-4B61-975D-DFCAADA9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846" y="3053768"/>
            <a:ext cx="2175688" cy="3098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>
                <a:alpha val="6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B0FE8C9C-996B-488E-9E29-5449CD01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9100" y="3629129"/>
            <a:ext cx="1899764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Node / Express</a:t>
            </a:r>
            <a:endParaRPr sz="15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服务端复判</a:t>
            </a:r>
            <a:endParaRPr sz="15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实验适配器</a:t>
            </a:r>
            <a:endParaRPr sz="15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20000"/>
              </a:lnSpc>
              <a:buSzPct val="80000"/>
              <a:buNone/>
            </a:pPr>
            <a:r>
              <a:rPr sz="1500" spc="14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/>
            </a:r>
            <a:endParaRPr sz="15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真实输入输出</a:t>
            </a:r>
            <a:endParaRPr sz="15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结构问题与反例</a:t>
            </a:r>
            <a:endParaRPr sz="15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检测器完成判分</a:t>
            </a:r>
            <a:endParaRPr sz="15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5E983820-A647-4CAF-9A48-E568A961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0454" y="3629129"/>
            <a:ext cx="1899764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可选 DeepSeek</a:t>
            </a:r>
            <a:endParaRPr sz="15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输出与引用检查</a:t>
            </a:r>
            <a:endParaRPr sz="15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20000"/>
              </a:lnSpc>
              <a:buSzPct val="80000"/>
              <a:buNone/>
            </a:pPr>
            <a:r>
              <a:rPr sz="1500" spc="14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/>
            </a:r>
            <a:endParaRPr sz="15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明确选择诊断</a:t>
            </a:r>
            <a:endParaRPr sz="15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发送受限事实</a:t>
            </a:r>
            <a:endParaRPr sz="15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配套课程依据</a:t>
            </a:r>
            <a:endParaRPr sz="15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本地规则回退</a:t>
            </a:r>
            <a:endParaRPr sz="15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609544E9-F91C-405C-890E-3F8A8460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1808" y="3629129"/>
            <a:ext cx="1899764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SQLite 记录</a:t>
            </a:r>
            <a:endParaRPr sz="15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来源与版本关联</a:t>
            </a:r>
            <a:endParaRPr sz="15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20000"/>
              </a:lnSpc>
              <a:buSzPct val="80000"/>
              <a:buNone/>
            </a:pPr>
            <a:r>
              <a:rPr sz="1500" spc="14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/>
            </a:r>
            <a:endParaRPr sz="15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班级实验隔离</a:t>
            </a:r>
            <a:endParaRPr sz="15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教师报告权限</a:t>
            </a:r>
            <a:endParaRPr sz="15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调整与发布版本</a:t>
            </a:r>
            <a:endParaRPr sz="15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过程记录导出</a:t>
            </a:r>
            <a:endParaRPr sz="15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scope-caption">
            <a:extLst xmlns:a="http://schemas.openxmlformats.org/drawingml/2006/main">
              <a:ext uri="{FF2B5EF4-FFF2-40B4-BE49-F238E27FC236}">
                <a16:creationId xmlns:a16="http://schemas.microsoft.com/office/drawing/2014/main" id="{B9C4682D-1366-46A3-8D90-BCA291E2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课程依据：有限来源目录与教师审核段落；当前未完成全课程向量 RAG。</a:t>
            </a:r>
          </a:p>
        </p:txBody>
      </p:sp>
      <p:sp>
        <p:nvSpPr>
          <p:cNvPr id="2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6F342CA-AAC5-4349-BDDA-52BF41A7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515100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3418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3418E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78301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8DA53550-A6B7-4F9F-A69C-BD132F39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1627" y="3842828"/>
            <a:ext cx="3535572" cy="4571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BD2F2">
              <a:alpha val="42000"/>
            </a:srgb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Source Han Sans CN Regular"/>
              <a:ea typeface="Source Han Sans CN Regular"/>
              <a:cs typeface="Source Han Sans CN Regular"/>
            </a:endParaRPr>
          </a:p>
        </p:txBody>
      </p:sp>
      <p:sp>
        <p:nvSpPr>
          <p:cNvPr id="3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095A8DA8-FA94-4131-BDCF-1A19FFD9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626" y="3842652"/>
            <a:ext cx="536145" cy="45719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100000">
                <a:srgbClr val="207DDD"/>
              </a:gs>
              <a:gs pos="0">
                <a:srgbClr val="1F50AD"/>
              </a:gs>
            </a:gsLst>
            <a:lin ang="16200000" scaled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gradFill>
                <a:gsLst>
                  <a:gs pos="100000">
                    <a:srgbClr val="1B999B"/>
                  </a:gs>
                  <a:gs pos="0">
                    <a:srgbClr val="164928"/>
                  </a:gs>
                </a:gsLst>
                <a:lin ang="0" scaled="1"/>
              </a:gradFill>
              <a:latin typeface="Source Han Sans CN Regular"/>
              <a:ea typeface="Source Han Sans CN Regular"/>
              <a:cs typeface="Source Han Sans CN Regular"/>
            </a:endParaRPr>
          </a:p>
        </p:txBody>
      </p:sp>
      <p:sp>
        <p:nvSpPr>
          <p:cNvPr id="11" name="副标题 2">
            <a:extLst xmlns:a="http://schemas.openxmlformats.org/drawingml/2006/main">
              <a:ext uri="{FF2B5EF4-FFF2-40B4-BE49-F238E27FC236}">
                <a16:creationId xmlns:a16="http://schemas.microsoft.com/office/drawing/2014/main" id="{C3089B60-CFB3-493F-A608-5F947BB0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946" y="2961144"/>
            <a:ext cx="4741853" cy="6182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>
            <a:noAutofit/>
          </a:bodyPr>
          <a:lstStyle xmlns:a="http://schemas.openxmlformats.org/drawingml/2006/main">
            <a:lvl1pPr marL="0" indent="0" algn="ctr" defTabSz="91440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/>
              <a:buNone/>
              <a:defRPr sz="2400" u="none" kern="1200" cap="none" spc="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2000" u="none" kern="1200" cap="none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800" u="none" kern="1200" cap="none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/>
              <a:buNone/>
              <a:defRPr sz="1600" u="none" kern="1200" cap="none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/>
              <a:buNone/>
              <a:defRPr sz="1600" u="none" kern="1200" cap="none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600" b="1">
                <a:solidFill>
                  <a:srgbClr val="05428E"/>
                </a:solidFill>
                <a:latin typeface="微软雅黑"/>
                <a:ea typeface="微软雅黑"/>
                <a:cs typeface="微软雅黑"/>
              </a:rPr>
              <a:t>运行效果</a:t>
            </a:r>
            <a:endParaRPr sz="3600" b="1">
              <a:solidFill>
                <a:srgbClr val="0542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AE7FA591-47B2-4F0C-ACB9-5AC8C5DA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28412"/>
            <a:ext cx="1595220" cy="2401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90170" tIns="46990" rIns="90170" bIns="4699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buNone/>
              <a:defRPr sz="26000" b="1" u="none" cap="none" spc="300" baseline="0">
                <a:gradFill flip="none" rotWithShape="1">
                  <a:gsLst>
                    <a:gs pos="100000">
                      <a:schemeClr val="accent1"/>
                    </a:gs>
                    <a:gs pos="0">
                      <a:schemeClr val="accent2"/>
                    </a:gs>
                  </a:gsLst>
                  <a:lin ang="16200000" scaled="0"/>
                  <a:tileRect/>
                </a:gradFill>
                <a:latin typeface="Source Han Sans CN Heavy"/>
                <a:ea typeface="Source Han Sans CN Heavy"/>
                <a:cs typeface="Source Han Sans CN Heavy"/>
              </a:defRPr>
            </a:lvl1pPr>
          </a:lstStyle>
          <a:p xmlns:a="http://schemas.openxmlformats.org/drawingml/2006/main">
            <a:pPr algn="r" defTabSz="457200">
              <a:buNone/>
            </a:pPr>
            <a:r>
              <a:rPr sz="8000">
                <a:gradFill rotWithShape="1">
                  <a:gsLst>
                    <a:gs pos="100000">
                      <a:srgbClr val="207DDD"/>
                    </a:gs>
                    <a:gs pos="0">
                      <a:srgbClr val="1F50AD"/>
                    </a:gs>
                  </a:gsLst>
                  <a:lin ang="16200000" scaled="0"/>
                  <a:tileRect/>
                </a:gradFill>
                <a:latin typeface="微软雅黑"/>
                <a:ea typeface="微软雅黑"/>
                <a:cs typeface="微软雅黑"/>
              </a:rPr>
              <a:t>05</a:t>
            </a:r>
            <a:endParaRPr sz="8000">
              <a:gradFill flip="none" rotWithShape="1">
                <a:gsLst>
                  <a:gs pos="100000">
                    <a:srgbClr val="207DDD"/>
                  </a:gs>
                  <a:gs pos="0">
                    <a:srgbClr val="1F50AD"/>
                  </a:gs>
                </a:gsLst>
                <a:lin ang="16200000" scaled="0"/>
                <a:tileRect/>
              </a:gra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任意形状 15">
            <a:extLst xmlns:a="http://schemas.openxmlformats.org/drawingml/2006/main">
              <a:ext uri="{FF2B5EF4-FFF2-40B4-BE49-F238E27FC236}">
                <a16:creationId xmlns:a16="http://schemas.microsoft.com/office/drawing/2014/main" id="{BFA9A96F-547A-4B12-9148-562EE7A3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0688" y="0"/>
            <a:ext cx="4214688" cy="6870988"/>
          </a:xfrm>
          <a:custGeom xmlns:a="http://schemas.openxmlformats.org/drawingml/2006/main">
            <a:gdLst>
              <a:gd name="connsiteX0" fmla="*/ 0 w 4214688"/>
              <a:gd name="connsiteY0" fmla="*/ 0 h 6870988"/>
              <a:gd name="connsiteX1" fmla="*/ 2330773 w 4214688"/>
              <a:gd name="connsiteY1" fmla="*/ 0 h 6870988"/>
              <a:gd name="connsiteX2" fmla="*/ 2422909 w 4214688"/>
              <a:gd name="connsiteY2" fmla="*/ 59067 h 6870988"/>
              <a:gd name="connsiteX3" fmla="*/ 4214688 w 4214688"/>
              <a:gd name="connsiteY3" fmla="*/ 3429000 h 6870988"/>
              <a:gd name="connsiteX4" fmla="*/ 2422909 w 4214688"/>
              <a:gd name="connsiteY4" fmla="*/ 6798933 h 6870988"/>
              <a:gd name="connsiteX5" fmla="*/ 2310514 w 4214688"/>
              <a:gd name="connsiteY5" fmla="*/ 6870988 h 6870988"/>
              <a:gd name="connsiteX6" fmla="*/ 0 w 4214688"/>
              <a:gd name="connsiteY6" fmla="*/ 6870988 h 6870988"/>
              <a:gd name="connsiteX7" fmla="*/ 0 w 4214688"/>
              <a:gd name="connsiteY7" fmla="*/ 0 h 6870988"/>
            </a:gdLst>
            <a:rect l="l" t="t" r="r" b="b"/>
            <a:pathLst>
              <a:path w="4214688" h="6870988">
                <a:moveTo>
                  <a:pt x="0" y="0"/>
                </a:moveTo>
                <a:lnTo>
                  <a:pt x="2330773" y="0"/>
                </a:lnTo>
                <a:lnTo>
                  <a:pt x="2422909" y="59067"/>
                </a:lnTo>
                <a:cubicBezTo>
                  <a:pt x="3503940" y="789398"/>
                  <a:pt x="4214688" y="2026197"/>
                  <a:pt x="4214688" y="3429000"/>
                </a:cubicBezTo>
                <a:cubicBezTo>
                  <a:pt x="4214688" y="4831803"/>
                  <a:pt x="3503940" y="6068603"/>
                  <a:pt x="2422909" y="6798933"/>
                </a:cubicBezTo>
                <a:lnTo>
                  <a:pt x="2310514" y="6870988"/>
                </a:lnTo>
                <a:lnTo>
                  <a:pt x="0" y="687098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56affb6b2ae74d56"/>
            <a:srcRect l="0" t="0" r="0" b="0"/>
            <a:tile tx="1270000" ty="1270000" sx="100000" sy="100000" flip="none" algn="ctr"/>
          </a:blip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AB7E13E-B6E3-45FA-8643-9993DD66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515100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3418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3418E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7051384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直线连接符 3">
            <a:extLst xmlns:a="http://schemas.openxmlformats.org/drawingml/2006/main">
              <a:ext uri="{FF2B5EF4-FFF2-40B4-BE49-F238E27FC236}">
                <a16:creationId xmlns:a16="http://schemas.microsoft.com/office/drawing/2014/main" id="{B0D68388-45E0-4981-9BAD-0FD9A930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900" y="1057450"/>
            <a:ext cx="11488967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1">
                <a:alpha val="74042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7D3077D7-DD57-4482-94BE-01C6A391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408" y="534230"/>
            <a:ext cx="952527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SzPct val="90000"/>
              <a:buNone/>
            </a:pPr>
            <a:r>
              <a:rPr sz="2800" b="1" spc="12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当前工程验证结果</a:t>
            </a:r>
            <a:endParaRPr sz="2800" b="1" spc="120"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277D7AA-6BAF-4117-A5D1-07C0EACE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" y="534231"/>
            <a:ext cx="457200" cy="523220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椭圆 6">
            <a:extLst xmlns:a="http://schemas.openxmlformats.org/drawingml/2006/main">
              <a:ext uri="{FF2B5EF4-FFF2-40B4-BE49-F238E27FC236}">
                <a16:creationId xmlns:a16="http://schemas.microsoft.com/office/drawing/2014/main" id="{28E8681F-CBEF-40D0-B117-98A5697A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4712" y="1962150"/>
            <a:ext cx="952500" cy="952500"/>
          </a:xfrm>
          <a:prstGeom xmlns:a="http://schemas.openxmlformats.org/drawingml/2006/main" prst="ellips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>
              <a:latin typeface="Arial"/>
              <a:ea typeface="Arial"/>
              <a:cs typeface="Arial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40FD2C4-67AA-47B3-AF82-A01ACEB3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812" y="2914650"/>
            <a:ext cx="26543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FD9D224F-5693-4442-867B-813DDAD6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309812" y="2214877"/>
            <a:ext cx="622300" cy="4670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</a:pPr>
            <a:r>
              <a:rPr sz="24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01</a:t>
            </a:r>
            <a:endParaRPr sz="2400" b="1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AE5A8F5F-3561-4AAB-9BF1-202A2896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300" y="3176712"/>
            <a:ext cx="2219325" cy="3383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664 项测试通过</a:t>
            </a:r>
            <a:endParaRPr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20000"/>
              </a:lnSpc>
              <a:buSzPct val="80000"/>
              <a:buNone/>
            </a:pPr>
            <a:r>
              <a:rPr spc="14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/>
            </a:r>
            <a:endParaRPr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生产构建通过</a:t>
            </a:r>
            <a:endParaRPr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首屏 JS 体积</a:t>
            </a:r>
            <a:endParaRPr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508,198 字节</a:t>
            </a:r>
            <a:endParaRPr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预算 512,000 字节</a:t>
            </a:r>
            <a:endParaRPr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/>
            </a:r>
            <a:endParaRPr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29 个实际工作台</a:t>
            </a:r>
            <a:endParaRPr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接入通用电路诊断</a:t>
            </a:r>
            <a:endParaRPr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椭圆 13">
            <a:extLst xmlns:a="http://schemas.openxmlformats.org/drawingml/2006/main">
              <a:ext uri="{FF2B5EF4-FFF2-40B4-BE49-F238E27FC236}">
                <a16:creationId xmlns:a16="http://schemas.microsoft.com/office/drawing/2014/main" id="{F975B4D7-A50D-4B11-A931-387CAA45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62150"/>
            <a:ext cx="952500" cy="952500"/>
          </a:xfrm>
          <a:prstGeom xmlns:a="http://schemas.openxmlformats.org/drawingml/2006/main" prst="ellips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>
              <a:latin typeface="Arial"/>
              <a:ea typeface="Arial"/>
              <a:cs typeface="Arial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BB7CE0F-D3E3-410A-AE54-8D442FEF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8850" y="2914650"/>
            <a:ext cx="26543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2F36F89-2738-4C52-96AB-71BB3D80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84850" y="2214877"/>
            <a:ext cx="622300" cy="4670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</a:pPr>
            <a:r>
              <a:rPr sz="24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02</a:t>
            </a:r>
            <a:endParaRPr sz="2400" b="1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D84B570F-BE18-4884-8CEF-9DE784DE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338" y="3176712"/>
            <a:ext cx="2219325" cy="2724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专项浏览器验收</a:t>
            </a:r>
            <a:endParaRPr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20000"/>
              </a:lnSpc>
              <a:buSzPct val="80000"/>
              <a:buNone/>
            </a:pPr>
            <a:r>
              <a:rPr spc="14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/>
            </a:r>
            <a:endParaRPr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学生诊断与复测</a:t>
            </a:r>
            <a:endParaRPr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教师采纳修改发布</a:t>
            </a:r>
            <a:endParaRPr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跨实验记录与跳转</a:t>
            </a:r>
            <a:endParaRPr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390 px 布局检查</a:t>
            </a:r>
            <a:endParaRPr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20000"/>
              </a:lnSpc>
              <a:buSzPct val="80000"/>
              <a:buNone/>
            </a:pPr>
            <a:r>
              <a:rPr spc="14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/>
            </a:r>
            <a:endParaRPr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隔离数据库与模型</a:t>
            </a:r>
            <a:endParaRPr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椭圆 17">
            <a:extLst xmlns:a="http://schemas.openxmlformats.org/drawingml/2006/main">
              <a:ext uri="{FF2B5EF4-FFF2-40B4-BE49-F238E27FC236}">
                <a16:creationId xmlns:a16="http://schemas.microsoft.com/office/drawing/2014/main" id="{361E32F8-7FDB-48D7-B530-D25B5499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4788" y="1962150"/>
            <a:ext cx="952500" cy="952500"/>
          </a:xfrm>
          <a:prstGeom xmlns:a="http://schemas.openxmlformats.org/drawingml/2006/main" prst="ellips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>
              <a:latin typeface="Arial"/>
              <a:ea typeface="Arial"/>
              <a:cs typeface="Arial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D7C4BB6-BDB7-4B48-8B49-57CE2039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3888" y="2914650"/>
            <a:ext cx="26543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1CE1BE87-32DD-45E6-B03D-BB6938F7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259888" y="2214877"/>
            <a:ext cx="622300" cy="4670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</a:pPr>
            <a:r>
              <a:rPr sz="24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03</a:t>
            </a:r>
            <a:endParaRPr sz="2400" b="1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4AA8CA2D-1729-45E8-BAD8-24F585B9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1376" y="3176712"/>
            <a:ext cx="2219325" cy="3712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本机课堂负载</a:t>
            </a:r>
            <a:endParaRPr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20000"/>
              </a:lnSpc>
              <a:buSzPct val="80000"/>
              <a:buNone/>
            </a:pPr>
            <a:r>
              <a:rPr spc="14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/>
            </a:r>
            <a:endParaRPr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150 / 150 提交成功</a:t>
            </a:r>
            <a:endParaRPr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并发上限 30</a:t>
            </a:r>
            <a:endParaRPr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SQLITE_BUSY 为 0</a:t>
            </a:r>
            <a:endParaRPr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本机 P95 为 37 ms</a:t>
            </a:r>
            <a:endParaRPr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20000"/>
              </a:lnSpc>
              <a:buSzPct val="80000"/>
              <a:buNone/>
            </a:pPr>
            <a:r>
              <a:rPr spc="14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/>
            </a:r>
            <a:endParaRPr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不等于部署容量</a:t>
            </a:r>
            <a:endParaRPr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scope-caption">
            <a:extLst xmlns:a="http://schemas.openxmlformats.org/drawingml/2006/main">
              <a:ext uri="{FF2B5EF4-FFF2-40B4-BE49-F238E27FC236}">
                <a16:creationId xmlns:a16="http://schemas.microsoft.com/office/drawing/2014/main" id="{1D352093-8D35-46E5-9E81-A7851AB9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工程验收 ≠ 教学成效；真实学习增益、教师工时与长期保持尚待采集。旧通用 UI 回归定位器仍需修复。</a:t>
            </a:r>
          </a:p>
        </p:txBody>
      </p:sp>
      <p:sp>
        <p:nvSpPr>
          <p:cNvPr id="2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60BD05C-F79B-44A5-B776-5DD31ABA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515100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3418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3418E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14557152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2F1C3D61-AC5F-4C8C-B66D-026D16F8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1627" y="3842828"/>
            <a:ext cx="3535572" cy="4571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BD2F2">
              <a:alpha val="42000"/>
            </a:srgb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Source Han Sans CN Regular"/>
              <a:ea typeface="Source Han Sans CN Regular"/>
              <a:cs typeface="Source Han Sans CN Regular"/>
            </a:endParaRPr>
          </a:p>
        </p:txBody>
      </p:sp>
      <p:sp>
        <p:nvSpPr>
          <p:cNvPr id="3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31A11190-D227-41F0-9948-2858A564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626" y="3842652"/>
            <a:ext cx="536145" cy="45719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100000">
                <a:srgbClr val="207DDD"/>
              </a:gs>
              <a:gs pos="0">
                <a:srgbClr val="1F50AD"/>
              </a:gs>
            </a:gsLst>
            <a:lin ang="16200000" scaled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gradFill>
                <a:gsLst>
                  <a:gs pos="100000">
                    <a:srgbClr val="1B999B"/>
                  </a:gs>
                  <a:gs pos="0">
                    <a:srgbClr val="164928"/>
                  </a:gs>
                </a:gsLst>
                <a:lin ang="0" scaled="1"/>
              </a:gradFill>
              <a:latin typeface="Source Han Sans CN Regular"/>
              <a:ea typeface="Source Han Sans CN Regular"/>
              <a:cs typeface="Source Han Sans CN Regular"/>
            </a:endParaRPr>
          </a:p>
        </p:txBody>
      </p:sp>
      <p:sp>
        <p:nvSpPr>
          <p:cNvPr id="11" name="副标题 2">
            <a:extLst xmlns:a="http://schemas.openxmlformats.org/drawingml/2006/main">
              <a:ext uri="{FF2B5EF4-FFF2-40B4-BE49-F238E27FC236}">
                <a16:creationId xmlns:a16="http://schemas.microsoft.com/office/drawing/2014/main" id="{E6E768FF-A706-492C-AEA7-5718912D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946" y="2961144"/>
            <a:ext cx="4741853" cy="6182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>
            <a:noAutofit/>
          </a:bodyPr>
          <a:lstStyle xmlns:a="http://schemas.openxmlformats.org/drawingml/2006/main">
            <a:lvl1pPr marL="0" indent="0" algn="ctr" defTabSz="91440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/>
              <a:buNone/>
              <a:defRPr sz="2400" u="none" kern="1200" cap="none" spc="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2000" u="none" kern="1200" cap="none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800" u="none" kern="1200" cap="none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/>
              <a:buNone/>
              <a:defRPr sz="1600" u="none" kern="1200" cap="none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/>
              <a:buNone/>
              <a:defRPr sz="1600" u="none" kern="1200" cap="none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600" b="1">
                <a:solidFill>
                  <a:srgbClr val="05428E"/>
                </a:solidFill>
                <a:latin typeface="微软雅黑"/>
                <a:ea typeface="微软雅黑"/>
                <a:cs typeface="微软雅黑"/>
              </a:rPr>
              <a:t>应用价值</a:t>
            </a:r>
            <a:endParaRPr sz="3600" b="1">
              <a:solidFill>
                <a:srgbClr val="0542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F6D95708-8BAA-43AB-A37B-3C5FBA0E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28412"/>
            <a:ext cx="1595220" cy="2401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90170" tIns="46990" rIns="90170" bIns="4699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buNone/>
              <a:defRPr sz="26000" b="1" u="none" cap="none" spc="300" baseline="0">
                <a:gradFill flip="none" rotWithShape="1">
                  <a:gsLst>
                    <a:gs pos="100000">
                      <a:schemeClr val="accent1"/>
                    </a:gs>
                    <a:gs pos="0">
                      <a:schemeClr val="accent2"/>
                    </a:gs>
                  </a:gsLst>
                  <a:lin ang="16200000" scaled="0"/>
                  <a:tileRect/>
                </a:gradFill>
                <a:latin typeface="Source Han Sans CN Heavy"/>
                <a:ea typeface="Source Han Sans CN Heavy"/>
                <a:cs typeface="Source Han Sans CN Heavy"/>
              </a:defRPr>
            </a:lvl1pPr>
          </a:lstStyle>
          <a:p xmlns:a="http://schemas.openxmlformats.org/drawingml/2006/main">
            <a:pPr algn="r" defTabSz="457200">
              <a:buNone/>
            </a:pPr>
            <a:r>
              <a:rPr sz="8000">
                <a:gradFill rotWithShape="1">
                  <a:gsLst>
                    <a:gs pos="100000">
                      <a:srgbClr val="207DDD"/>
                    </a:gs>
                    <a:gs pos="0">
                      <a:srgbClr val="1F50AD"/>
                    </a:gs>
                  </a:gsLst>
                  <a:lin ang="16200000" scaled="0"/>
                  <a:tileRect/>
                </a:gradFill>
                <a:latin typeface="微软雅黑"/>
                <a:ea typeface="微软雅黑"/>
                <a:cs typeface="微软雅黑"/>
              </a:rPr>
              <a:t>06</a:t>
            </a:r>
            <a:endParaRPr sz="8000">
              <a:gradFill flip="none" rotWithShape="1">
                <a:gsLst>
                  <a:gs pos="100000">
                    <a:srgbClr val="207DDD"/>
                  </a:gs>
                  <a:gs pos="0">
                    <a:srgbClr val="1F50AD"/>
                  </a:gs>
                </a:gsLst>
                <a:lin ang="16200000" scaled="0"/>
                <a:tileRect/>
              </a:gra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任意形状 15">
            <a:extLst xmlns:a="http://schemas.openxmlformats.org/drawingml/2006/main">
              <a:ext uri="{FF2B5EF4-FFF2-40B4-BE49-F238E27FC236}">
                <a16:creationId xmlns:a16="http://schemas.microsoft.com/office/drawing/2014/main" id="{C3C47E3D-6C15-4239-BFAE-CFABB42B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0688" y="0"/>
            <a:ext cx="4214688" cy="6870988"/>
          </a:xfrm>
          <a:custGeom xmlns:a="http://schemas.openxmlformats.org/drawingml/2006/main">
            <a:gdLst>
              <a:gd name="connsiteX0" fmla="*/ 0 w 4214688"/>
              <a:gd name="connsiteY0" fmla="*/ 0 h 6870988"/>
              <a:gd name="connsiteX1" fmla="*/ 2330773 w 4214688"/>
              <a:gd name="connsiteY1" fmla="*/ 0 h 6870988"/>
              <a:gd name="connsiteX2" fmla="*/ 2422909 w 4214688"/>
              <a:gd name="connsiteY2" fmla="*/ 59067 h 6870988"/>
              <a:gd name="connsiteX3" fmla="*/ 4214688 w 4214688"/>
              <a:gd name="connsiteY3" fmla="*/ 3429000 h 6870988"/>
              <a:gd name="connsiteX4" fmla="*/ 2422909 w 4214688"/>
              <a:gd name="connsiteY4" fmla="*/ 6798933 h 6870988"/>
              <a:gd name="connsiteX5" fmla="*/ 2310514 w 4214688"/>
              <a:gd name="connsiteY5" fmla="*/ 6870988 h 6870988"/>
              <a:gd name="connsiteX6" fmla="*/ 0 w 4214688"/>
              <a:gd name="connsiteY6" fmla="*/ 6870988 h 6870988"/>
              <a:gd name="connsiteX7" fmla="*/ 0 w 4214688"/>
              <a:gd name="connsiteY7" fmla="*/ 0 h 6870988"/>
            </a:gdLst>
            <a:rect l="l" t="t" r="r" b="b"/>
            <a:pathLst>
              <a:path w="4214688" h="6870988">
                <a:moveTo>
                  <a:pt x="0" y="0"/>
                </a:moveTo>
                <a:lnTo>
                  <a:pt x="2330773" y="0"/>
                </a:lnTo>
                <a:lnTo>
                  <a:pt x="2422909" y="59067"/>
                </a:lnTo>
                <a:cubicBezTo>
                  <a:pt x="3503940" y="789398"/>
                  <a:pt x="4214688" y="2026197"/>
                  <a:pt x="4214688" y="3429000"/>
                </a:cubicBezTo>
                <a:cubicBezTo>
                  <a:pt x="4214688" y="4831803"/>
                  <a:pt x="3503940" y="6068603"/>
                  <a:pt x="2422909" y="6798933"/>
                </a:cubicBezTo>
                <a:lnTo>
                  <a:pt x="2310514" y="6870988"/>
                </a:lnTo>
                <a:lnTo>
                  <a:pt x="0" y="687098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7593831885db49f1"/>
            <a:srcRect l="0" t="0" r="0" b="0"/>
            <a:tile tx="1270000" ty="1270000" sx="100000" sy="100000" flip="none" algn="ctr"/>
          </a:blip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E294C7E-BC89-4789-B2D3-65F30EF7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515100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3418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3418E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43745765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直线连接符 3">
            <a:extLst xmlns:a="http://schemas.openxmlformats.org/drawingml/2006/main">
              <a:ext uri="{FF2B5EF4-FFF2-40B4-BE49-F238E27FC236}">
                <a16:creationId xmlns:a16="http://schemas.microsoft.com/office/drawing/2014/main" id="{0D02E1AD-7F6F-43FB-979B-FF96E603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900" y="1057450"/>
            <a:ext cx="11488967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1">
                <a:alpha val="74042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B33B66FB-7441-4E52-8FD7-B46A4BB7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408" y="534230"/>
            <a:ext cx="952527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SzPct val="90000"/>
              <a:buNone/>
            </a:pPr>
            <a:r>
              <a:rPr sz="2800" b="1" spc="12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在课程中如何使用与推广</a:t>
            </a:r>
            <a:endParaRPr sz="2800" b="1" spc="120"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73DC92E-94FB-4B2E-AFB7-D348689D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" y="534231"/>
            <a:ext cx="457200" cy="523220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cxnSp>
        <p:nvCxnSpPr>
          <p:cNvPr id="41" name="直线箭头连接符 6"/>
          <p:cNvCxnSpPr/>
          <p:nvPr/>
        </p:nvCxnSpPr>
        <p:spPr>
          <a:xfrm xmlns:a="http://schemas.openxmlformats.org/drawingml/2006/main">
            <a:off x="791029" y="3778196"/>
            <a:ext cx="10784115" cy="0"/>
          </a:xfrm>
          <a:prstGeom xmlns:a="http://schemas.openxmlformats.org/drawingml/2006/main" prst="straightConnector1">
            <a:avLst/>
          </a:prstGeom>
          <a:ln xmlns:a="http://schemas.openxmlformats.org/drawingml/2006/main" w="22225">
            <a:tailEnd type="arrow" w="lg" len="lg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8" name="菱形 7">
            <a:extLst xmlns:a="http://schemas.openxmlformats.org/drawingml/2006/main">
              <a:ext uri="{FF2B5EF4-FFF2-40B4-BE49-F238E27FC236}">
                <a16:creationId xmlns:a16="http://schemas.microsoft.com/office/drawing/2014/main" id="{B3F4841F-C0FD-46BC-B496-51B34D6B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1078" y="3654915"/>
            <a:ext cx="246562" cy="246562"/>
          </a:xfrm>
          <a:prstGeom xmlns:a="http://schemas.openxmlformats.org/drawingml/2006/main" prst="diamond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菱形 8">
            <a:extLst xmlns:a="http://schemas.openxmlformats.org/drawingml/2006/main">
              <a:ext uri="{FF2B5EF4-FFF2-40B4-BE49-F238E27FC236}">
                <a16:creationId xmlns:a16="http://schemas.microsoft.com/office/drawing/2014/main" id="{CE1FFDE4-303C-4642-88BE-561AF09E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2930" y="3596767"/>
            <a:ext cx="362858" cy="362858"/>
          </a:xfrm>
          <a:prstGeom xmlns:a="http://schemas.openxmlformats.org/drawingml/2006/main" prst="diamond">
            <a:avLst/>
          </a:prstGeom>
          <a:solidFill xmlns:a="http://schemas.openxmlformats.org/drawingml/2006/main">
            <a:schemeClr val="accent1">
              <a:alpha val="51972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cxnSp>
        <p:nvCxnSpPr>
          <p:cNvPr id="44" name="直线连接符 9"/>
          <p:cNvCxnSpPr>
            <a:endCxn xmlns:a="http://schemas.openxmlformats.org/drawingml/2006/main" id="9" idx="2"/>
          </p:cNvCxnSpPr>
          <p:nvPr/>
        </p:nvCxnSpPr>
        <p:spPr>
          <a:xfrm xmlns:a="http://schemas.openxmlformats.org/drawingml/2006/main" flipV="1">
            <a:off x="2284359" y="3959625"/>
            <a:ext cx="0" cy="521304"/>
          </a:xfrm>
          <a:prstGeom xmlns:a="http://schemas.openxmlformats.org/drawingml/2006/main" prst="line">
            <a:avLst/>
          </a:prstGeom>
          <a:ln xmlns:a="http://schemas.openxmlformats.org/drawingml/2006/main">
            <a:prstDash val="dash"/>
            <a:headEnd type="oval" w="sm" len="sm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969429DD-A646-4179-A166-FA03A6F1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76" y="4656508"/>
            <a:ext cx="217596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SzPct val="80000"/>
              <a:buNone/>
            </a:pPr>
            <a:r>
              <a:rPr sz="1600" spc="14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实验课应用</a:t>
            </a:r>
            <a:endParaRPr sz="1600" spc="14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075DDB14-F472-48BD-AA0D-16D1AF21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733" y="5062527"/>
            <a:ext cx="2481251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SzPct val="80000"/>
              <a:buNone/>
            </a:pPr>
            <a:r>
              <a:rPr sz="1200" spc="14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教师布置、学生操作</a:t>
            </a:r>
            <a:endParaRPr sz="12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20000"/>
              </a:lnSpc>
              <a:buSzPct val="80000"/>
              <a:buNone/>
            </a:pPr>
            <a:r>
              <a:rPr sz="1200" spc="14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系统检测并保留证据</a:t>
            </a:r>
            <a:endParaRPr sz="12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20000"/>
              </a:lnSpc>
              <a:buSzPct val="80000"/>
              <a:buNone/>
            </a:pPr>
            <a:r>
              <a:rPr sz="1200" spc="14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教师组织讲解与补练</a:t>
            </a:r>
            <a:endParaRPr sz="12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菱形 15">
            <a:extLst xmlns:a="http://schemas.openxmlformats.org/drawingml/2006/main">
              <a:ext uri="{FF2B5EF4-FFF2-40B4-BE49-F238E27FC236}">
                <a16:creationId xmlns:a16="http://schemas.microsoft.com/office/drawing/2014/main" id="{EB570AE1-FA4F-4CAB-A4E2-1628CD3C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8257" y="3654915"/>
            <a:ext cx="246562" cy="246562"/>
          </a:xfrm>
          <a:prstGeom xmlns:a="http://schemas.openxmlformats.org/drawingml/2006/main" prst="diamond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菱形 16">
            <a:extLst xmlns:a="http://schemas.openxmlformats.org/drawingml/2006/main">
              <a:ext uri="{FF2B5EF4-FFF2-40B4-BE49-F238E27FC236}">
                <a16:creationId xmlns:a16="http://schemas.microsoft.com/office/drawing/2014/main" id="{4F6118FF-EF11-479D-8089-DE2F1F59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0109" y="3596767"/>
            <a:ext cx="362858" cy="362858"/>
          </a:xfrm>
          <a:prstGeom xmlns:a="http://schemas.openxmlformats.org/drawingml/2006/main" prst="diamond">
            <a:avLst/>
          </a:prstGeom>
          <a:solidFill xmlns:a="http://schemas.openxmlformats.org/drawingml/2006/main">
            <a:schemeClr val="accent1">
              <a:alpha val="51972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cxnSp>
        <p:nvCxnSpPr>
          <p:cNvPr id="49" name="直线连接符 17"/>
          <p:cNvCxnSpPr>
            <a:endCxn xmlns:a="http://schemas.openxmlformats.org/drawingml/2006/main" id="17" idx="2"/>
          </p:cNvCxnSpPr>
          <p:nvPr/>
        </p:nvCxnSpPr>
        <p:spPr>
          <a:xfrm xmlns:a="http://schemas.openxmlformats.org/drawingml/2006/main" flipV="1">
            <a:off x="5681538" y="3959625"/>
            <a:ext cx="0" cy="521304"/>
          </a:xfrm>
          <a:prstGeom xmlns:a="http://schemas.openxmlformats.org/drawingml/2006/main" prst="line">
            <a:avLst/>
          </a:prstGeom>
          <a:ln xmlns:a="http://schemas.openxmlformats.org/drawingml/2006/main">
            <a:prstDash val="dash"/>
            <a:headEnd type="oval" w="sm" len="sm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2C9D5340-CF73-460E-8909-A96A86CF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555" y="4641200"/>
            <a:ext cx="217596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SzPct val="80000"/>
              <a:buNone/>
            </a:pPr>
            <a:r>
              <a:rPr sz="1600" spc="14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学生学习路径</a:t>
            </a:r>
            <a:endParaRPr sz="1600" spc="14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8517D1D6-AAC3-41B2-B182-1C796EFD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0912" y="5047219"/>
            <a:ext cx="2481251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SzPct val="80000"/>
              <a:buNone/>
            </a:pPr>
            <a:r>
              <a:rPr sz="1200" spc="14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提示可按需展开</a:t>
            </a:r>
            <a:endParaRPr sz="12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20000"/>
              </a:lnSpc>
              <a:buSzPct val="80000"/>
              <a:buNone/>
            </a:pPr>
            <a:r>
              <a:rPr sz="1200" spc="14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修改后再次验证</a:t>
            </a:r>
            <a:endParaRPr sz="12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20000"/>
              </a:lnSpc>
              <a:buSzPct val="80000"/>
              <a:buNone/>
            </a:pPr>
            <a:r>
              <a:rPr sz="1200" spc="14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复测结果独立保存</a:t>
            </a:r>
            <a:endParaRPr sz="12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菱形 20">
            <a:extLst xmlns:a="http://schemas.openxmlformats.org/drawingml/2006/main">
              <a:ext uri="{FF2B5EF4-FFF2-40B4-BE49-F238E27FC236}">
                <a16:creationId xmlns:a16="http://schemas.microsoft.com/office/drawing/2014/main" id="{6927114D-8BA1-4E8F-B383-69FDAE55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7581" y="3654915"/>
            <a:ext cx="246562" cy="246562"/>
          </a:xfrm>
          <a:prstGeom xmlns:a="http://schemas.openxmlformats.org/drawingml/2006/main" prst="diamond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菱形 21">
            <a:extLst xmlns:a="http://schemas.openxmlformats.org/drawingml/2006/main">
              <a:ext uri="{FF2B5EF4-FFF2-40B4-BE49-F238E27FC236}">
                <a16:creationId xmlns:a16="http://schemas.microsoft.com/office/drawing/2014/main" id="{0A950BDE-013F-45AB-B4C7-092869E9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9433" y="3596767"/>
            <a:ext cx="362858" cy="362858"/>
          </a:xfrm>
          <a:prstGeom xmlns:a="http://schemas.openxmlformats.org/drawingml/2006/main" prst="diamond">
            <a:avLst/>
          </a:prstGeom>
          <a:solidFill xmlns:a="http://schemas.openxmlformats.org/drawingml/2006/main">
            <a:schemeClr val="accent1">
              <a:alpha val="51972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cxnSp>
        <p:nvCxnSpPr>
          <p:cNvPr id="54" name="直线连接符 22"/>
          <p:cNvCxnSpPr>
            <a:endCxn xmlns:a="http://schemas.openxmlformats.org/drawingml/2006/main" id="22" idx="2"/>
          </p:cNvCxnSpPr>
          <p:nvPr/>
        </p:nvCxnSpPr>
        <p:spPr>
          <a:xfrm xmlns:a="http://schemas.openxmlformats.org/drawingml/2006/main" flipV="1">
            <a:off x="9350862" y="3959625"/>
            <a:ext cx="0" cy="521304"/>
          </a:xfrm>
          <a:prstGeom xmlns:a="http://schemas.openxmlformats.org/drawingml/2006/main" prst="line">
            <a:avLst/>
          </a:prstGeom>
          <a:ln xmlns:a="http://schemas.openxmlformats.org/drawingml/2006/main">
            <a:prstDash val="dash"/>
            <a:headEnd type="oval" w="sm" len="sm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4BC0EFF0-3D00-4B87-98F1-1707103F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2879" y="4641200"/>
            <a:ext cx="217596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SzPct val="80000"/>
              <a:buNone/>
            </a:pPr>
            <a:r>
              <a:rPr sz="1600" spc="14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课程推广</a:t>
            </a:r>
            <a:endParaRPr sz="1600" spc="14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9BFA126D-64AC-4F9D-B665-4005229E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236" y="5047219"/>
            <a:ext cx="2481251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SzPct val="80000"/>
              <a:buNone/>
            </a:pPr>
            <a:r>
              <a:rPr sz="1200" spc="14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复用当前电路与任务模板</a:t>
            </a:r>
            <a:endParaRPr sz="12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20000"/>
              </a:lnSpc>
              <a:buSzPct val="80000"/>
              <a:buNone/>
            </a:pPr>
            <a:r>
              <a:rPr sz="1200" spc="14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其他领域新增适配器</a:t>
            </a:r>
            <a:endParaRPr sz="12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20000"/>
              </a:lnSpc>
              <a:buSzPct val="80000"/>
              <a:buNone/>
            </a:pPr>
            <a:r>
              <a:rPr sz="1200" spc="14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需提供对应评价与依据</a:t>
            </a:r>
            <a:endParaRPr sz="12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菱形 25">
            <a:extLst xmlns:a="http://schemas.openxmlformats.org/drawingml/2006/main">
              <a:ext uri="{FF2B5EF4-FFF2-40B4-BE49-F238E27FC236}">
                <a16:creationId xmlns:a16="http://schemas.microsoft.com/office/drawing/2014/main" id="{79847C4C-CDF3-4A77-9354-F94DA659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667" y="3654915"/>
            <a:ext cx="246562" cy="246562"/>
          </a:xfrm>
          <a:prstGeom xmlns:a="http://schemas.openxmlformats.org/drawingml/2006/main" prst="diamond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菱形 26">
            <a:extLst xmlns:a="http://schemas.openxmlformats.org/drawingml/2006/main">
              <a:ext uri="{FF2B5EF4-FFF2-40B4-BE49-F238E27FC236}">
                <a16:creationId xmlns:a16="http://schemas.microsoft.com/office/drawing/2014/main" id="{5E7479AF-BAE8-4FC8-AB58-D503DD77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1519" y="3596767"/>
            <a:ext cx="362858" cy="362858"/>
          </a:xfrm>
          <a:prstGeom xmlns:a="http://schemas.openxmlformats.org/drawingml/2006/main" prst="diamond">
            <a:avLst/>
          </a:prstGeom>
          <a:solidFill xmlns:a="http://schemas.openxmlformats.org/drawingml/2006/main">
            <a:schemeClr val="accent1">
              <a:alpha val="51972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菱形 27">
            <a:extLst xmlns:a="http://schemas.openxmlformats.org/drawingml/2006/main">
              <a:ext uri="{FF2B5EF4-FFF2-40B4-BE49-F238E27FC236}">
                <a16:creationId xmlns:a16="http://schemas.microsoft.com/office/drawing/2014/main" id="{83E54676-896B-4CEB-80FB-AE8719A8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2919" y="3654915"/>
            <a:ext cx="246562" cy="246562"/>
          </a:xfrm>
          <a:prstGeom xmlns:a="http://schemas.openxmlformats.org/drawingml/2006/main" prst="diamond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菱形 28">
            <a:extLst xmlns:a="http://schemas.openxmlformats.org/drawingml/2006/main">
              <a:ext uri="{FF2B5EF4-FFF2-40B4-BE49-F238E27FC236}">
                <a16:creationId xmlns:a16="http://schemas.microsoft.com/office/drawing/2014/main" id="{6D88C316-ADCA-41DA-9BC8-ADE5826D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771" y="3596767"/>
            <a:ext cx="362858" cy="362858"/>
          </a:xfrm>
          <a:prstGeom xmlns:a="http://schemas.openxmlformats.org/drawingml/2006/main" prst="diamond">
            <a:avLst/>
          </a:prstGeom>
          <a:solidFill xmlns:a="http://schemas.openxmlformats.org/drawingml/2006/main">
            <a:schemeClr val="accent1">
              <a:alpha val="51972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直线连接符 29">
            <a:extLst xmlns:a="http://schemas.openxmlformats.org/drawingml/2006/main">
              <a:ext uri="{FF2B5EF4-FFF2-40B4-BE49-F238E27FC236}">
                <a16:creationId xmlns:a16="http://schemas.microsoft.com/office/drawing/2014/main" id="{3D21D54F-6B6E-4554-B552-6EC4DE9F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3008" y="3075463"/>
            <a:ext cx="0" cy="521304"/>
          </a:xfrm>
          <a:prstGeom xmlns:a="http://schemas.openxmlformats.org/drawingml/2006/main" prst="line">
            <a:avLst/>
          </a:prstGeom>
          <a:ln xmlns:a="http://schemas.openxmlformats.org/drawingml/2006/main">
            <a:prstDash val="dash"/>
            <a:headEnd type="oval" w="sm" len="sm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9DD83044-C5C4-49D1-8F75-0BE7AEF8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025" y="2477002"/>
            <a:ext cx="217596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SzPct val="80000"/>
              <a:buNone/>
            </a:pPr>
            <a:r>
              <a:rPr sz="1600" spc="14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教师决策支持</a:t>
            </a:r>
            <a:endParaRPr sz="1600" spc="14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C2D60072-E962-4017-9932-C89A4D29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2322" y="1691852"/>
            <a:ext cx="2481251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SzPct val="80000"/>
              <a:buNone/>
            </a:pPr>
            <a:r>
              <a:rPr sz="1200" spc="14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按学生与实验回看</a:t>
            </a:r>
            <a:endParaRPr sz="12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20000"/>
              </a:lnSpc>
              <a:buSzPct val="80000"/>
              <a:buNone/>
            </a:pPr>
            <a:r>
              <a:rPr sz="1200" spc="14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核查证据、调整任务</a:t>
            </a:r>
            <a:endParaRPr sz="12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20000"/>
              </a:lnSpc>
              <a:buSzPct val="80000"/>
              <a:buNone/>
            </a:pPr>
            <a:r>
              <a:rPr sz="1200" spc="14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保留发布版本与记录</a:t>
            </a:r>
            <a:endParaRPr sz="12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直线连接符 32">
            <a:extLst xmlns:a="http://schemas.openxmlformats.org/drawingml/2006/main">
              <a:ext uri="{FF2B5EF4-FFF2-40B4-BE49-F238E27FC236}">
                <a16:creationId xmlns:a16="http://schemas.microsoft.com/office/drawing/2014/main" id="{296BBEED-62FD-40E0-9677-76EA63D9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258" y="3075463"/>
            <a:ext cx="0" cy="521304"/>
          </a:xfrm>
          <a:prstGeom xmlns:a="http://schemas.openxmlformats.org/drawingml/2006/main" prst="line">
            <a:avLst/>
          </a:prstGeom>
          <a:ln xmlns:a="http://schemas.openxmlformats.org/drawingml/2006/main">
            <a:prstDash val="dash"/>
            <a:headEnd type="oval" w="sm" len="sm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A9EEDD37-D1A5-4A5B-A6A8-C2844AF9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275" y="2477002"/>
            <a:ext cx="217596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SzPct val="80000"/>
              <a:buNone/>
            </a:pPr>
            <a:r>
              <a:rPr sz="1600" spc="14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移动端访问</a:t>
            </a:r>
            <a:endParaRPr sz="1600" spc="140">
              <a:solidFill>
                <a:schemeClr val="accen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03759441-CF8D-4225-9AE3-6FBABC4F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6572" y="1691852"/>
            <a:ext cx="2481251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SzPct val="80000"/>
              <a:buNone/>
            </a:pPr>
            <a:r>
              <a:rPr sz="1200" spc="14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查看建议与学习记录</a:t>
            </a:r>
            <a:endParaRPr sz="12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20000"/>
              </a:lnSpc>
              <a:buSzPct val="80000"/>
              <a:buNone/>
            </a:pPr>
            <a:r>
              <a:rPr sz="1200" spc="14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关键链路检查 390 px</a:t>
            </a:r>
            <a:endParaRPr sz="12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20000"/>
              </a:lnSpc>
              <a:buSzPct val="80000"/>
              <a:buNone/>
            </a:pPr>
            <a:r>
              <a:rPr sz="1200" spc="14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复杂连线优先电脑操作</a:t>
            </a:r>
            <a:endParaRPr sz="12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scope-caption">
            <a:extLst xmlns:a="http://schemas.openxmlformats.org/drawingml/2006/main">
              <a:ext uri="{FF2B5EF4-FFF2-40B4-BE49-F238E27FC236}">
                <a16:creationId xmlns:a16="http://schemas.microsoft.com/office/drawing/2014/main" id="{1DE2E3A4-F349-4E8F-8BE0-9B1C175F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推广范围先从组成原理电路教学展开；跨课程效果需要独立试教验证。</a:t>
            </a:r>
          </a:p>
        </p:txBody>
      </p:sp>
      <p:sp>
        <p:nvSpPr>
          <p:cNvPr id="3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5C394F9-0DD7-42BF-A2B9-B751D49B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515100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3418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3418E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02121146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0CD60B83-FD8A-4A2C-B5D5-712FD037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1627" y="3842828"/>
            <a:ext cx="3535572" cy="4571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BD2F2">
              <a:alpha val="42000"/>
            </a:srgb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Source Han Sans CN Regular"/>
              <a:ea typeface="Source Han Sans CN Regular"/>
              <a:cs typeface="Source Han Sans CN Regular"/>
            </a:endParaRPr>
          </a:p>
        </p:txBody>
      </p:sp>
      <p:sp>
        <p:nvSpPr>
          <p:cNvPr id="3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F231DF44-548F-4F7B-88A5-F085A2FE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626" y="3842652"/>
            <a:ext cx="536145" cy="45719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100000">
                <a:srgbClr val="207DDD"/>
              </a:gs>
              <a:gs pos="0">
                <a:srgbClr val="1F50AD"/>
              </a:gs>
            </a:gsLst>
            <a:lin ang="16200000" scaled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gradFill>
                <a:gsLst>
                  <a:gs pos="100000">
                    <a:srgbClr val="1B999B"/>
                  </a:gs>
                  <a:gs pos="0">
                    <a:srgbClr val="164928"/>
                  </a:gs>
                </a:gsLst>
                <a:lin ang="0" scaled="1"/>
              </a:gradFill>
              <a:latin typeface="Source Han Sans CN Regular"/>
              <a:ea typeface="Source Han Sans CN Regular"/>
              <a:cs typeface="Source Han Sans CN Regular"/>
            </a:endParaRPr>
          </a:p>
        </p:txBody>
      </p:sp>
      <p:sp>
        <p:nvSpPr>
          <p:cNvPr id="11" name="副标题 2">
            <a:extLst xmlns:a="http://schemas.openxmlformats.org/drawingml/2006/main">
              <a:ext uri="{FF2B5EF4-FFF2-40B4-BE49-F238E27FC236}">
                <a16:creationId xmlns:a16="http://schemas.microsoft.com/office/drawing/2014/main" id="{BBBC80D6-8605-4B3C-A601-390EA94D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946" y="2961144"/>
            <a:ext cx="4741853" cy="6182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>
            <a:noAutofit/>
          </a:bodyPr>
          <a:lstStyle xmlns:a="http://schemas.openxmlformats.org/drawingml/2006/main">
            <a:lvl1pPr marL="0" indent="0" algn="ctr" defTabSz="91440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/>
              <a:buNone/>
              <a:defRPr sz="2400" u="none" kern="1200" cap="none" spc="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2000" u="none" kern="1200" cap="none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800" u="none" kern="1200" cap="none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/>
              <a:buNone/>
              <a:defRPr sz="1600" u="none" kern="1200" cap="none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/>
              <a:buNone/>
              <a:defRPr sz="1600" u="none" kern="1200" cap="none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600" b="1">
                <a:solidFill>
                  <a:srgbClr val="05428E"/>
                </a:solidFill>
                <a:latin typeface="微软雅黑"/>
                <a:ea typeface="微软雅黑"/>
                <a:cs typeface="微软雅黑"/>
              </a:rPr>
              <a:t>创新点</a:t>
            </a:r>
            <a:endParaRPr sz="3600" b="1">
              <a:solidFill>
                <a:srgbClr val="0542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54303A06-2F86-4DAC-BC6A-BB2B269D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28412"/>
            <a:ext cx="1595220" cy="2401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90170" tIns="46990" rIns="90170" bIns="4699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buNone/>
              <a:defRPr sz="26000" b="1" u="none" cap="none" spc="300" baseline="0">
                <a:gradFill flip="none" rotWithShape="1">
                  <a:gsLst>
                    <a:gs pos="100000">
                      <a:schemeClr val="accent1"/>
                    </a:gs>
                    <a:gs pos="0">
                      <a:schemeClr val="accent2"/>
                    </a:gs>
                  </a:gsLst>
                  <a:lin ang="16200000" scaled="0"/>
                  <a:tileRect/>
                </a:gradFill>
                <a:latin typeface="Source Han Sans CN Heavy"/>
                <a:ea typeface="Source Han Sans CN Heavy"/>
                <a:cs typeface="Source Han Sans CN Heavy"/>
              </a:defRPr>
            </a:lvl1pPr>
          </a:lstStyle>
          <a:p xmlns:a="http://schemas.openxmlformats.org/drawingml/2006/main">
            <a:pPr algn="r" defTabSz="457200">
              <a:buNone/>
            </a:pPr>
            <a:r>
              <a:rPr sz="8000">
                <a:gradFill rotWithShape="1">
                  <a:gsLst>
                    <a:gs pos="100000">
                      <a:srgbClr val="207DDD"/>
                    </a:gs>
                    <a:gs pos="0">
                      <a:srgbClr val="1F50AD"/>
                    </a:gs>
                  </a:gsLst>
                  <a:lin ang="16200000" scaled="0"/>
                  <a:tileRect/>
                </a:gradFill>
                <a:latin typeface="微软雅黑"/>
                <a:ea typeface="微软雅黑"/>
                <a:cs typeface="微软雅黑"/>
              </a:rPr>
              <a:t>07</a:t>
            </a:r>
            <a:endParaRPr sz="8000">
              <a:gradFill flip="none" rotWithShape="1">
                <a:gsLst>
                  <a:gs pos="100000">
                    <a:srgbClr val="207DDD"/>
                  </a:gs>
                  <a:gs pos="0">
                    <a:srgbClr val="1F50AD"/>
                  </a:gs>
                </a:gsLst>
                <a:lin ang="16200000" scaled="0"/>
                <a:tileRect/>
              </a:gra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任意形状 15">
            <a:extLst xmlns:a="http://schemas.openxmlformats.org/drawingml/2006/main">
              <a:ext uri="{FF2B5EF4-FFF2-40B4-BE49-F238E27FC236}">
                <a16:creationId xmlns:a16="http://schemas.microsoft.com/office/drawing/2014/main" id="{77DE7B53-D0E2-4A22-9A18-7FF83A2C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0688" y="0"/>
            <a:ext cx="4214688" cy="6870988"/>
          </a:xfrm>
          <a:custGeom xmlns:a="http://schemas.openxmlformats.org/drawingml/2006/main">
            <a:gdLst>
              <a:gd name="connsiteX0" fmla="*/ 0 w 4214688"/>
              <a:gd name="connsiteY0" fmla="*/ 0 h 6870988"/>
              <a:gd name="connsiteX1" fmla="*/ 2330773 w 4214688"/>
              <a:gd name="connsiteY1" fmla="*/ 0 h 6870988"/>
              <a:gd name="connsiteX2" fmla="*/ 2422909 w 4214688"/>
              <a:gd name="connsiteY2" fmla="*/ 59067 h 6870988"/>
              <a:gd name="connsiteX3" fmla="*/ 4214688 w 4214688"/>
              <a:gd name="connsiteY3" fmla="*/ 3429000 h 6870988"/>
              <a:gd name="connsiteX4" fmla="*/ 2422909 w 4214688"/>
              <a:gd name="connsiteY4" fmla="*/ 6798933 h 6870988"/>
              <a:gd name="connsiteX5" fmla="*/ 2310514 w 4214688"/>
              <a:gd name="connsiteY5" fmla="*/ 6870988 h 6870988"/>
              <a:gd name="connsiteX6" fmla="*/ 0 w 4214688"/>
              <a:gd name="connsiteY6" fmla="*/ 6870988 h 6870988"/>
              <a:gd name="connsiteX7" fmla="*/ 0 w 4214688"/>
              <a:gd name="connsiteY7" fmla="*/ 0 h 6870988"/>
            </a:gdLst>
            <a:rect l="l" t="t" r="r" b="b"/>
            <a:pathLst>
              <a:path w="4214688" h="6870988">
                <a:moveTo>
                  <a:pt x="0" y="0"/>
                </a:moveTo>
                <a:lnTo>
                  <a:pt x="2330773" y="0"/>
                </a:lnTo>
                <a:lnTo>
                  <a:pt x="2422909" y="59067"/>
                </a:lnTo>
                <a:cubicBezTo>
                  <a:pt x="3503940" y="789398"/>
                  <a:pt x="4214688" y="2026197"/>
                  <a:pt x="4214688" y="3429000"/>
                </a:cubicBezTo>
                <a:cubicBezTo>
                  <a:pt x="4214688" y="4831803"/>
                  <a:pt x="3503940" y="6068603"/>
                  <a:pt x="2422909" y="6798933"/>
                </a:cubicBezTo>
                <a:lnTo>
                  <a:pt x="2310514" y="6870988"/>
                </a:lnTo>
                <a:lnTo>
                  <a:pt x="0" y="687098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35ab170118b04638"/>
            <a:srcRect l="0" t="0" r="0" b="0"/>
            <a:tile tx="1270000" ty="1270000" sx="100000" sy="100000" flip="none" algn="ctr"/>
          </a:blip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4BD4807-1FEC-4A2E-8E6A-B979F313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515100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3418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3418E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33197752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直线连接符 3">
            <a:extLst xmlns:a="http://schemas.openxmlformats.org/drawingml/2006/main">
              <a:ext uri="{FF2B5EF4-FFF2-40B4-BE49-F238E27FC236}">
                <a16:creationId xmlns:a16="http://schemas.microsoft.com/office/drawing/2014/main" id="{88709FAA-FA49-427D-8178-F5A38007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900" y="1057450"/>
            <a:ext cx="11488967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1">
                <a:alpha val="74042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8C18FEE1-21BF-4D18-80FB-54492FB2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408" y="534230"/>
            <a:ext cx="952527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SzPct val="90000"/>
              <a:buNone/>
            </a:pPr>
            <a:r>
              <a:rPr sz="2800" b="1" spc="12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创新点</a:t>
            </a:r>
            <a:endParaRPr sz="2800" b="1" spc="120"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A0E67BA-B706-43C1-A5E0-AC4B05A7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" y="534231"/>
            <a:ext cx="457200" cy="523220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6A361F6-1091-4A5C-8F69-1F5BD868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350" y="1739900"/>
            <a:ext cx="9893300" cy="6858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9EFEA39F-A454-4D79-B773-8FEC649D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851967"/>
            <a:ext cx="784860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 spc="3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可核对的诊断 · 可审核的行动</a:t>
            </a:r>
            <a:endParaRPr sz="2400" b="1" spc="30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9DC7E89-BA27-4BCD-B9A5-99E32ABF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350" y="2635250"/>
            <a:ext cx="237490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accent1">
                <a:alpha val="9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2999A84-08F9-44B2-A5CD-2C95CC22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5483" y="2635250"/>
            <a:ext cx="237490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accent1">
                <a:alpha val="9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97F36216-DE9E-4574-9CF4-0BE726AD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1616" y="2635250"/>
            <a:ext cx="237490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accent1">
                <a:alpha val="9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82A45B7-CFA0-459A-92C2-368CD5E0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35250"/>
            <a:ext cx="237490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accent1">
                <a:alpha val="9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7F0B15FD-C725-476A-8583-01B70258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718" y="3555333"/>
            <a:ext cx="2062163" cy="1847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检测与解释分工</a:t>
            </a:r>
            <a:endParaRPr sz="16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20000"/>
              </a:lnSpc>
              <a:buSzPct val="80000"/>
              <a:buNone/>
            </a:pPr>
            <a:r>
              <a:rPr sz="1600" spc="14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/>
            </a:r>
            <a:endParaRPr sz="16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服务端复判结果</a:t>
            </a:r>
            <a:endParaRPr sz="16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模型提供解释建议</a:t>
            </a:r>
            <a:endParaRPr sz="16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失败反例可核对</a:t>
            </a:r>
            <a:endParaRPr sz="16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成绩不由模型生成</a:t>
            </a:r>
            <a:endParaRPr sz="16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78D4BA3F-8CCD-4C5A-B966-FBD23A88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585912" y="2939360"/>
            <a:ext cx="1501776" cy="47025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</a:pPr>
            <a:r>
              <a:rPr sz="2400" b="1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2400" b="1"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A3696F4E-8C72-4E86-BBBD-96A6F5F4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4444" y="3555334"/>
            <a:ext cx="2062163" cy="1847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反馈连接学习行动</a:t>
            </a:r>
            <a:endParaRPr sz="16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20000"/>
              </a:lnSpc>
              <a:buSzPct val="80000"/>
              <a:buNone/>
            </a:pPr>
            <a:r>
              <a:rPr sz="1600" spc="14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/>
            </a:r>
            <a:endParaRPr sz="16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提示后修改验证</a:t>
            </a:r>
            <a:endParaRPr sz="16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补学与复测关联</a:t>
            </a:r>
            <a:endParaRPr sz="16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全加器有多位迁移</a:t>
            </a:r>
            <a:endParaRPr sz="16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练习范围明确标识</a:t>
            </a:r>
            <a:endParaRPr sz="16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96B1D999-9A21-415D-B85B-A6DF5A0F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084637" y="2939360"/>
            <a:ext cx="1501776" cy="47025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</a:pPr>
            <a:r>
              <a:rPr sz="2400" b="1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2400" b="1"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58E55885-1A92-4E1A-90AF-EA2347F5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169" y="3555334"/>
            <a:ext cx="2062163" cy="1847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教师决策留痕</a:t>
            </a:r>
            <a:endParaRPr sz="16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20000"/>
              </a:lnSpc>
              <a:buSzPct val="80000"/>
              <a:buNone/>
            </a:pPr>
            <a:r>
              <a:rPr sz="1600" spc="14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/>
            </a:r>
            <a:endParaRPr sz="16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建议逐条引用证据</a:t>
            </a:r>
            <a:endParaRPr sz="16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采纳后可编辑任务</a:t>
            </a:r>
            <a:endParaRPr sz="16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原报告与调整保存</a:t>
            </a:r>
            <a:endParaRPr sz="16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发布关联具体版本</a:t>
            </a:r>
            <a:endParaRPr sz="16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A9BE7497-EF32-4E6D-8C90-5242CAD7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583362" y="2939360"/>
            <a:ext cx="1501776" cy="47025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</a:pPr>
            <a:r>
              <a:rPr sz="2400" b="1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2400" b="1"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9251A90D-6842-467A-B641-C7402FAF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894" y="3555334"/>
            <a:ext cx="2062163" cy="1847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实验适配器复用</a:t>
            </a:r>
            <a:endParaRPr sz="16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20000"/>
              </a:lnSpc>
              <a:buSzPct val="80000"/>
              <a:buNone/>
            </a:pPr>
            <a:r>
              <a:rPr sz="1600" spc="14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/>
            </a:r>
            <a:endParaRPr sz="16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统一检测提示复测</a:t>
            </a:r>
            <a:endParaRPr sz="16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覆盖29个工作台</a:t>
            </a:r>
            <a:endParaRPr sz="16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记录与任务按实验</a:t>
            </a:r>
            <a:endParaRPr sz="16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20000"/>
              </a:lnSpc>
              <a:buSzPct val="80000"/>
              <a:buNone/>
              <a:defRPr sz="150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500" spc="14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新领域配套检测器</a:t>
            </a:r>
            <a:endParaRPr sz="1600" spc="14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B579579D-2E23-42FA-936B-7B56C0A7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082087" y="2939360"/>
            <a:ext cx="1501776" cy="47025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</a:pPr>
            <a:r>
              <a:rPr sz="2400" b="1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2400" b="1"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scope-caption">
            <a:extLst xmlns:a="http://schemas.openxmlformats.org/drawingml/2006/main">
              <a:ext uri="{FF2B5EF4-FFF2-40B4-BE49-F238E27FC236}">
                <a16:creationId xmlns:a16="http://schemas.microsoft.com/office/drawing/2014/main" id="{76614E95-AE0B-437A-A0E8-E35A83D9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以上为实现特点；相对普通问答的增益，需独立教师评测与真实试教验证。</a:t>
            </a:r>
          </a:p>
        </p:txBody>
      </p:sp>
      <p:sp>
        <p:nvSpPr>
          <p:cNvPr id="2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4D45AAC-3424-4100-A354-4395DDF3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515100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3418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3418E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4847082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A692A92C-EEA0-4CB8-B427-E9551D61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1627" y="3842828"/>
            <a:ext cx="3535572" cy="4571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BD2F2">
              <a:alpha val="42000"/>
            </a:srgb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Source Han Sans CN Regular"/>
              <a:ea typeface="Source Han Sans CN Regular"/>
              <a:cs typeface="Source Han Sans CN Regular"/>
            </a:endParaRPr>
          </a:p>
        </p:txBody>
      </p:sp>
      <p:sp>
        <p:nvSpPr>
          <p:cNvPr id="3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F596DA18-F67B-4DB6-B4D5-46491B49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626" y="3842652"/>
            <a:ext cx="536145" cy="45719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100000">
                <a:srgbClr val="207DDD"/>
              </a:gs>
              <a:gs pos="0">
                <a:srgbClr val="1F50AD"/>
              </a:gs>
            </a:gsLst>
            <a:lin ang="16200000" scaled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gradFill>
                <a:gsLst>
                  <a:gs pos="100000">
                    <a:srgbClr val="1B999B"/>
                  </a:gs>
                  <a:gs pos="0">
                    <a:srgbClr val="164928"/>
                  </a:gs>
                </a:gsLst>
                <a:lin ang="0" scaled="1"/>
              </a:gradFill>
              <a:latin typeface="Source Han Sans CN Regular"/>
              <a:ea typeface="Source Han Sans CN Regular"/>
              <a:cs typeface="Source Han Sans CN Regular"/>
            </a:endParaRPr>
          </a:p>
        </p:txBody>
      </p:sp>
      <p:sp>
        <p:nvSpPr>
          <p:cNvPr id="11" name="副标题 2">
            <a:extLst xmlns:a="http://schemas.openxmlformats.org/drawingml/2006/main">
              <a:ext uri="{FF2B5EF4-FFF2-40B4-BE49-F238E27FC236}">
                <a16:creationId xmlns:a16="http://schemas.microsoft.com/office/drawing/2014/main" id="{F5E0F29F-8D28-4557-B2DE-75AF9AB4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8486" y="2915249"/>
            <a:ext cx="4741853" cy="6182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46800" rIns="90000" bIns="46800">
            <a:noAutofit/>
          </a:bodyPr>
          <a:lstStyle xmlns:a="http://schemas.openxmlformats.org/drawingml/2006/main">
            <a:lvl1pPr marL="0" indent="0" algn="ctr" defTabSz="91440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/>
              <a:buNone/>
              <a:defRPr sz="2400" u="none" kern="1200" cap="none" spc="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2000" u="none" kern="1200" cap="none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800" u="none" kern="1200" cap="none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/>
              <a:buNone/>
              <a:defRPr sz="1600" u="none" kern="1200" cap="none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/>
              <a:buNone/>
              <a:defRPr sz="1600" u="none" kern="1200" cap="none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600" b="1">
                <a:solidFill>
                  <a:srgbClr val="05428E"/>
                </a:solidFill>
                <a:latin typeface="微软雅黑"/>
                <a:ea typeface="微软雅黑"/>
                <a:cs typeface="微软雅黑"/>
              </a:rPr>
              <a:t>进一步完善计划</a:t>
            </a:r>
            <a:endParaRPr sz="3600" b="1">
              <a:solidFill>
                <a:srgbClr val="05428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518B7BE1-8028-4254-9CBA-6A82F665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28412"/>
            <a:ext cx="1595220" cy="24011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90170" tIns="46990" rIns="90170" bIns="46990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buNone/>
              <a:defRPr sz="26000" b="1" u="none" cap="none" spc="300" baseline="0">
                <a:gradFill flip="none" rotWithShape="1">
                  <a:gsLst>
                    <a:gs pos="100000">
                      <a:schemeClr val="accent1"/>
                    </a:gs>
                    <a:gs pos="0">
                      <a:schemeClr val="accent2"/>
                    </a:gs>
                  </a:gsLst>
                  <a:lin ang="16200000" scaled="0"/>
                  <a:tileRect/>
                </a:gradFill>
                <a:latin typeface="Source Han Sans CN Heavy"/>
                <a:ea typeface="Source Han Sans CN Heavy"/>
                <a:cs typeface="Source Han Sans CN Heavy"/>
              </a:defRPr>
            </a:lvl1pPr>
          </a:lstStyle>
          <a:p xmlns:a="http://schemas.openxmlformats.org/drawingml/2006/main">
            <a:pPr algn="r" defTabSz="457200">
              <a:buNone/>
            </a:pPr>
            <a:r>
              <a:rPr sz="8000">
                <a:gradFill rotWithShape="1">
                  <a:gsLst>
                    <a:gs pos="100000">
                      <a:srgbClr val="207DDD"/>
                    </a:gs>
                    <a:gs pos="0">
                      <a:srgbClr val="1F50AD"/>
                    </a:gs>
                  </a:gsLst>
                  <a:lin ang="16200000" scaled="0"/>
                  <a:tileRect/>
                </a:gradFill>
                <a:latin typeface="微软雅黑"/>
                <a:ea typeface="微软雅黑"/>
                <a:cs typeface="微软雅黑"/>
              </a:rPr>
              <a:t>08</a:t>
            </a:r>
            <a:endParaRPr sz="8000">
              <a:gradFill flip="none" rotWithShape="1">
                <a:gsLst>
                  <a:gs pos="100000">
                    <a:srgbClr val="207DDD"/>
                  </a:gs>
                  <a:gs pos="0">
                    <a:srgbClr val="1F50AD"/>
                  </a:gs>
                </a:gsLst>
                <a:lin ang="16200000" scaled="0"/>
                <a:tileRect/>
              </a:gra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任意形状 15">
            <a:extLst xmlns:a="http://schemas.openxmlformats.org/drawingml/2006/main">
              <a:ext uri="{FF2B5EF4-FFF2-40B4-BE49-F238E27FC236}">
                <a16:creationId xmlns:a16="http://schemas.microsoft.com/office/drawing/2014/main" id="{85820EB9-6A67-4CB8-9E16-9E77E413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0688" y="0"/>
            <a:ext cx="4214688" cy="6870988"/>
          </a:xfrm>
          <a:custGeom xmlns:a="http://schemas.openxmlformats.org/drawingml/2006/main">
            <a:gdLst>
              <a:gd name="connsiteX0" fmla="*/ 0 w 4214688"/>
              <a:gd name="connsiteY0" fmla="*/ 0 h 6870988"/>
              <a:gd name="connsiteX1" fmla="*/ 2330773 w 4214688"/>
              <a:gd name="connsiteY1" fmla="*/ 0 h 6870988"/>
              <a:gd name="connsiteX2" fmla="*/ 2422909 w 4214688"/>
              <a:gd name="connsiteY2" fmla="*/ 59067 h 6870988"/>
              <a:gd name="connsiteX3" fmla="*/ 4214688 w 4214688"/>
              <a:gd name="connsiteY3" fmla="*/ 3429000 h 6870988"/>
              <a:gd name="connsiteX4" fmla="*/ 2422909 w 4214688"/>
              <a:gd name="connsiteY4" fmla="*/ 6798933 h 6870988"/>
              <a:gd name="connsiteX5" fmla="*/ 2310514 w 4214688"/>
              <a:gd name="connsiteY5" fmla="*/ 6870988 h 6870988"/>
              <a:gd name="connsiteX6" fmla="*/ 0 w 4214688"/>
              <a:gd name="connsiteY6" fmla="*/ 6870988 h 6870988"/>
              <a:gd name="connsiteX7" fmla="*/ 0 w 4214688"/>
              <a:gd name="connsiteY7" fmla="*/ 0 h 6870988"/>
            </a:gdLst>
            <a:rect l="l" t="t" r="r" b="b"/>
            <a:pathLst>
              <a:path w="4214688" h="6870988">
                <a:moveTo>
                  <a:pt x="0" y="0"/>
                </a:moveTo>
                <a:lnTo>
                  <a:pt x="2330773" y="0"/>
                </a:lnTo>
                <a:lnTo>
                  <a:pt x="2422909" y="59067"/>
                </a:lnTo>
                <a:cubicBezTo>
                  <a:pt x="3503940" y="789398"/>
                  <a:pt x="4214688" y="2026197"/>
                  <a:pt x="4214688" y="3429000"/>
                </a:cubicBezTo>
                <a:cubicBezTo>
                  <a:pt x="4214688" y="4831803"/>
                  <a:pt x="3503940" y="6068603"/>
                  <a:pt x="2422909" y="6798933"/>
                </a:cubicBezTo>
                <a:lnTo>
                  <a:pt x="2310514" y="6870988"/>
                </a:lnTo>
                <a:lnTo>
                  <a:pt x="0" y="687098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4feea6f109834b48"/>
            <a:srcRect l="0" t="0" r="0" b="0"/>
            <a:tile tx="1270000" ty="1270000" sx="100000" sy="100000" flip="none" algn="ctr"/>
          </a:blip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51508D4-3DD7-4A9E-A573-C13BA711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515100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3418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3418E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458037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直线连接符 3">
            <a:extLst xmlns:a="http://schemas.openxmlformats.org/drawingml/2006/main">
              <a:ext uri="{FF2B5EF4-FFF2-40B4-BE49-F238E27FC236}">
                <a16:creationId xmlns:a16="http://schemas.microsoft.com/office/drawing/2014/main" id="{72903C0B-2F1F-4FCB-AD5A-66D3DAA1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900" y="1057450"/>
            <a:ext cx="11488967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1">
                <a:alpha val="74042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714AD683-AF14-472C-8AFA-34F65477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408" y="534230"/>
            <a:ext cx="9525279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SzPct val="90000"/>
              <a:buNone/>
            </a:pPr>
            <a:r>
              <a:rPr sz="2800" b="1" spc="12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试教与独立评测计划</a:t>
            </a:r>
            <a:endParaRPr sz="2800" b="1" spc="120"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B52020F-4D3B-42FD-B4B1-25329600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" y="534231"/>
            <a:ext cx="457200" cy="523220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plan-title-0">
            <a:extLst xmlns:a="http://schemas.openxmlformats.org/drawingml/2006/main">
              <a:ext uri="{FF2B5EF4-FFF2-40B4-BE49-F238E27FC236}">
                <a16:creationId xmlns:a16="http://schemas.microsoft.com/office/drawing/2014/main" id="{DEDAFE1B-CC16-4277-9E71-0C949190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335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3418E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03418E"/>
                </a:solidFill>
                <a:latin typeface="微软雅黑"/>
                <a:ea typeface="微软雅黑"/>
                <a:cs typeface="微软雅黑"/>
              </a:rPr>
              <a:t>01  真实试教</a:t>
            </a:r>
          </a:p>
        </p:txBody>
      </p:sp>
      <p:sp>
        <p:nvSpPr>
          <p:cNvPr id="8" name="plan-copy-0">
            <a:extLst xmlns:a="http://schemas.openxmlformats.org/drawingml/2006/main">
              <a:ext uri="{FF2B5EF4-FFF2-40B4-BE49-F238E27FC236}">
                <a16:creationId xmlns:a16="http://schemas.microsoft.com/office/drawing/2014/main" id="{E83B92DE-1781-462A-8A68-4F114347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33528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一个班级、两次教学活动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不同题目前后测</a:t>
            </a:r>
          </a:p>
          <a:p xmlns:a="http://schemas.openxmlformats.org/drawingml/2006/main">
            <a:pPr algn="l">
              <a:defRPr sz="180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延迟复测与过程记录</a:t>
            </a:r>
          </a:p>
          <a:p xmlns:a="http://schemas.openxmlformats.org/drawingml/2006/main">
            <a:pPr algn="l">
              <a:defRPr sz="180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教师工时与学生反馈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输出：匿名试教证据包</a:t>
            </a:r>
          </a:p>
        </p:txBody>
      </p:sp>
      <p:sp>
        <p:nvSpPr>
          <p:cNvPr id="9" name="plan-title-1">
            <a:extLst xmlns:a="http://schemas.openxmlformats.org/drawingml/2006/main">
              <a:ext uri="{FF2B5EF4-FFF2-40B4-BE49-F238E27FC236}">
                <a16:creationId xmlns:a16="http://schemas.microsoft.com/office/drawing/2014/main" id="{0C080343-10E5-49EF-B29A-86A733DB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847850"/>
            <a:ext cx="335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3418E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03418E"/>
                </a:solidFill>
                <a:latin typeface="微软雅黑"/>
                <a:ea typeface="微软雅黑"/>
                <a:cs typeface="微软雅黑"/>
              </a:rPr>
              <a:t>02  独立评测</a:t>
            </a:r>
          </a:p>
        </p:txBody>
      </p:sp>
      <p:sp>
        <p:nvSpPr>
          <p:cNvPr id="10" name="plan-copy-1">
            <a:extLst xmlns:a="http://schemas.openxmlformats.org/drawingml/2006/main">
              <a:ext uri="{FF2B5EF4-FFF2-40B4-BE49-F238E27FC236}">
                <a16:creationId xmlns:a16="http://schemas.microsoft.com/office/drawing/2014/main" id="{C7FE21EF-FE9B-45E9-8DE6-39D1C981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838450"/>
            <a:ext cx="33528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30～50 个教师审核案例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普通问答／工具助教／本地规则</a:t>
            </a:r>
          </a:p>
          <a:p xmlns:a="http://schemas.openxmlformats.org/drawingml/2006/main">
            <a:pPr algn="l">
              <a:defRPr sz="180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检查解释、引用与行动质量</a:t>
            </a:r>
          </a:p>
          <a:p xmlns:a="http://schemas.openxmlformats.org/drawingml/2006/main">
            <a:pPr algn="l">
              <a:defRPr sz="180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记录错误和不支持的结论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输出：案例与对比结果</a:t>
            </a:r>
          </a:p>
        </p:txBody>
      </p:sp>
      <p:sp>
        <p:nvSpPr>
          <p:cNvPr id="11" name="plan-title-2">
            <a:extLst xmlns:a="http://schemas.openxmlformats.org/drawingml/2006/main">
              <a:ext uri="{FF2B5EF4-FFF2-40B4-BE49-F238E27FC236}">
                <a16:creationId xmlns:a16="http://schemas.microsoft.com/office/drawing/2014/main" id="{646561F1-114C-44C8-9C40-BD7D3C48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47850"/>
            <a:ext cx="335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3418E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03418E"/>
                </a:solidFill>
                <a:latin typeface="微软雅黑"/>
                <a:ea typeface="微软雅黑"/>
                <a:cs typeface="微软雅黑"/>
              </a:rPr>
              <a:t>03  扩展与完善</a:t>
            </a:r>
          </a:p>
        </p:txBody>
      </p:sp>
      <p:sp>
        <p:nvSpPr>
          <p:cNvPr id="12" name="plan-copy-2">
            <a:extLst xmlns:a="http://schemas.openxmlformats.org/drawingml/2006/main">
              <a:ext uri="{FF2B5EF4-FFF2-40B4-BE49-F238E27FC236}">
                <a16:creationId xmlns:a16="http://schemas.microsoft.com/office/drawing/2014/main" id="{B8B90164-62D6-4D14-A415-A9DCDDE5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38450"/>
            <a:ext cx="33528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课程来源与题目质量完善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增加领域证据规范与适配器</a:t>
            </a:r>
          </a:p>
          <a:p xmlns:a="http://schemas.openxmlformats.org/drawingml/2006/main">
            <a:pPr algn="l">
              <a:defRPr sz="180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补齐旧界面回归定位器</a:t>
            </a:r>
          </a:p>
          <a:p xmlns:a="http://schemas.openxmlformats.org/drawingml/2006/main">
            <a:pPr algn="l">
              <a:defRPr sz="180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验证部署服务器负载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输出：可复用的部署与验收包</a:t>
            </a:r>
          </a:p>
        </p:txBody>
      </p:sp>
      <p:sp>
        <p:nvSpPr>
          <p:cNvPr id="13" name="scope-caption">
            <a:extLst xmlns:a="http://schemas.openxmlformats.org/drawingml/2006/main">
              <a:ext uri="{FF2B5EF4-FFF2-40B4-BE49-F238E27FC236}">
                <a16:creationId xmlns:a16="http://schemas.microsoft.com/office/drawing/2014/main" id="{EAE57FC0-81A7-474E-8C96-7F61F531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当前采集表只有字段，未填入真实试教数据。优先补齐课堂效果证据，再扩大推广。</a:t>
            </a:r>
          </a:p>
        </p:txBody>
      </p:sp>
      <p:sp>
        <p:nvSpPr>
          <p:cNvPr id="1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B33AE63-7732-4A3E-8FA5-1686C17D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515100"/>
            <a:ext cx="400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03418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3418E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778758352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任意形状 5">
            <a:extLst xmlns:a="http://schemas.openxmlformats.org/drawingml/2006/main">
              <a:ext uri="{FF2B5EF4-FFF2-40B4-BE49-F238E27FC236}">
                <a16:creationId xmlns:a16="http://schemas.microsoft.com/office/drawing/2014/main" id="{BFA25510-068A-4F4E-81B0-30D1D9D3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156" y="746890"/>
            <a:ext cx="2858220" cy="6111110"/>
          </a:xfrm>
          <a:custGeom xmlns:a="http://schemas.openxmlformats.org/drawingml/2006/main">
            <a:gdLst>
              <a:gd name="connsiteX0" fmla="*/ 2602092 w 2858220"/>
              <a:gd name="connsiteY0" fmla="*/ 0 h 6111110"/>
              <a:gd name="connsiteX1" fmla="*/ 2608261 w 2858220"/>
              <a:gd name="connsiteY1" fmla="*/ 17881 h 6111110"/>
              <a:gd name="connsiteX2" fmla="*/ 2858220 w 2858220"/>
              <a:gd name="connsiteY2" fmla="*/ 1619391 h 6111110"/>
              <a:gd name="connsiteX3" fmla="*/ 918980 w 2858220"/>
              <a:gd name="connsiteY3" fmla="*/ 5862311 h 6111110"/>
              <a:gd name="connsiteX4" fmla="*/ 649851 w 2858220"/>
              <a:gd name="connsiteY4" fmla="*/ 6111110 h 6111110"/>
              <a:gd name="connsiteX5" fmla="*/ 0 w 2858220"/>
              <a:gd name="connsiteY5" fmla="*/ 6111110 h 6111110"/>
              <a:gd name="connsiteX6" fmla="*/ 344313 w 2858220"/>
              <a:gd name="connsiteY6" fmla="*/ 5850464 h 6111110"/>
              <a:gd name="connsiteX7" fmla="*/ 2825300 w 2858220"/>
              <a:gd name="connsiteY7" fmla="*/ 1405499 h 6111110"/>
              <a:gd name="connsiteX8" fmla="*/ 2681407 w 2858220"/>
              <a:gd name="connsiteY8" fmla="*/ 274117 h 6111110"/>
              <a:gd name="connsiteX9" fmla="*/ 2602092 w 2858220"/>
              <a:gd name="connsiteY9" fmla="*/ 0 h 6111110"/>
            </a:gdLst>
            <a:rect l="l" t="t" r="r" b="b"/>
            <a:pathLst>
              <a:path w="2858220" h="6111110">
                <a:moveTo>
                  <a:pt x="2602092" y="0"/>
                </a:moveTo>
                <a:lnTo>
                  <a:pt x="2608261" y="17881"/>
                </a:lnTo>
                <a:cubicBezTo>
                  <a:pt x="2771795" y="532542"/>
                  <a:pt x="2858220" y="1068635"/>
                  <a:pt x="2858220" y="1619391"/>
                </a:cubicBezTo>
                <a:cubicBezTo>
                  <a:pt x="2858220" y="3210466"/>
                  <a:pt x="2136947" y="4679157"/>
                  <a:pt x="918980" y="5862311"/>
                </a:cubicBezTo>
                <a:lnTo>
                  <a:pt x="649851" y="6111110"/>
                </a:lnTo>
                <a:lnTo>
                  <a:pt x="0" y="6111110"/>
                </a:lnTo>
                <a:lnTo>
                  <a:pt x="344313" y="5850464"/>
                </a:lnTo>
                <a:cubicBezTo>
                  <a:pt x="1902532" y="4610969"/>
                  <a:pt x="2825300" y="3072340"/>
                  <a:pt x="2825300" y="1405499"/>
                </a:cubicBezTo>
                <a:cubicBezTo>
                  <a:pt x="2825300" y="1020844"/>
                  <a:pt x="2776158" y="643016"/>
                  <a:pt x="2681407" y="274117"/>
                </a:cubicBezTo>
                <a:lnTo>
                  <a:pt x="2602092" y="0"/>
                </a:ln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5B405E3F-4D63-4302-B03A-02A2EDD8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06" y="1900339"/>
            <a:ext cx="8787133" cy="1383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3418E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 spc="600">
                <a:solidFill>
                  <a:srgbClr val="03418E"/>
                </a:solidFill>
                <a:latin typeface="微软雅黑"/>
                <a:ea typeface="微软雅黑"/>
                <a:cs typeface="微软雅黑"/>
              </a:rPr>
              <a:t>芯游记 ChipQuest</a:t>
            </a:r>
            <a:endParaRPr sz="4200" b="1" spc="600"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defRPr sz="3600" b="1">
                <a:solidFill>
                  <a:srgbClr val="03418E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 spc="600">
                <a:solidFill>
                  <a:srgbClr val="03418E"/>
                </a:solidFill>
                <a:latin typeface="微软雅黑"/>
                <a:ea typeface="微软雅黑"/>
                <a:cs typeface="微软雅黑"/>
              </a:rPr>
              <a:t>让学习操作形成下一步教学行动</a:t>
            </a:r>
            <a:endParaRPr sz="4200" b="1" spc="600"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8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505b406f1f45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53498" y="0"/>
            <a:ext cx="4638502" cy="6858000"/>
          </a:xfrm>
          <a:prstGeom xmlns:a="http://schemas.openxmlformats.org/drawingml/2006/main" prst="rect">
            <a:avLst/>
          </a:prstGeom>
        </p:spPr>
      </p:pic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7EDC29FD-35CF-4DC5-856B-C51CC478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06" y="4032224"/>
            <a:ext cx="8787133" cy="7386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200" b="1" spc="6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谢谢观看</a:t>
            </a:r>
            <a:endParaRPr sz="4200" b="1" spc="600"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933274162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自定义 2206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3418E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220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/>
  <lastModifiedBy>Walnut Exporter</lastModifiedBy>
  <dc:title/>
  <dcterms:created xsi:type="dcterms:W3CDTF">2026-10-06T03:13:29.9050000Z</dcterms:created>
  <dcterms:modified xsi:type="dcterms:W3CDTF">2026-10-06T03:13:29.9050000Z</dcterms:modified>
</coreProperties>
</file>